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5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TOMA DE ASISTENCIA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Servicio Nacional de Aprendizaje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828800" cy="0"/>
          </a:xfrm>
          <a:prstGeom prst="line">
            <a:avLst/>
          </a:prstGeom>
          <a:noFill/>
          <a:ln w="12700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 sistema — presentación de funcionamiento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 ·  Análisis y Desarrollo de Software  ·  Regional Huila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registro y control de asistencia de los aprendices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manual actual (planillas físicas) genera errores de registro, pérdida de información y demoras en la consolidación de reportes. El sistema propuesto reemplaza este proceso por una plataforma web ágil y confiable.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en planillas físicas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Errores de digitación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Consolidación manual lenta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Riesgo de pérdida de datos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4594860"/>
            <a:ext cx="502920" cy="36576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2514600" cy="278892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931920" y="3547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digital vía plataforma web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4434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automáticas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937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generados al instante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54406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centralizada en 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7223760" y="1536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 – 1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</a:t>
            </a:r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 del </a:t>
            </a:r>
            <a:r>
              <a:rPr lang="en-US" sz="12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semanas)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223760" y="2907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integrantes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análisis y liderazgo · frontend · backend y base de 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223760" y="4279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módulos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Registro de asistencia · Reportes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autenticación, registro y reportes sobre una arquitectura web estándar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811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5671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671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· JavaScript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5671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5671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Formularios de registro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671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Listados de asistencia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671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en 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8279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3999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6859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859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8596" y="3154680"/>
            <a:ext cx="2651760" cy="0"/>
          </a:xfrm>
          <a:prstGeom prst="line">
            <a:avLst/>
          </a:prstGeom>
          <a:noFill/>
          <a:ln w="9525">
            <a:solidFill>
              <a:srgbClr val="9AA5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6859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Autenticación de usuarios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59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sesiones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859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Procesamiento de asistencia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94676" y="3236976"/>
            <a:ext cx="411480" cy="292608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151876" y="219456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380476" y="2395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047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0476" y="3154680"/>
            <a:ext cx="2651760" cy="0"/>
          </a:xfrm>
          <a:prstGeom prst="line">
            <a:avLst/>
          </a:prstGeom>
          <a:noFill/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380476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Aprendices e instructores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476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Fichas y horarios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0476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Registros de asistencia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entre el navegador del usuario y el servidor se realiza mediante peticiones HTTP y llamadas asíncronas (AJAX/Fetch), devolviendo los datos almacenados en la base de datos relacional.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autenticación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de instructores y personal administrativo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asistencia.sena.edu.co/login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correo institucional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4340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466344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 • • • • 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51663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4340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registro de asistencia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de asistencia por ficha y jornada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asistencia.sena.edu.co/registro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5584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642616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687568" y="2642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2642616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6426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aprendiz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llegada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566160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005840" y="3566160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566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Gómez Ríos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1082456712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6:58 a.m.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6484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13816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4005072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005840" y="4005072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40050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Torres Vela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050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1082331904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0050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408736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8138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4400" y="4443984"/>
            <a:ext cx="10332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1005840" y="4443984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463040" y="444398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Martínez P.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4439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1082567321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4443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7:03 a.m.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5262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81381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4400" y="4882896"/>
            <a:ext cx="1033272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005840" y="488289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63040" y="48828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Rivera Soto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8828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1082789456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8828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7:10 a.m.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38160" y="49651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8138160" y="4965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509760" y="545896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509760" y="5458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Módulo de reportes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consolidación de asistencia por ficha y periodo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90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59536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545336"/>
            <a:ext cx="109728" cy="109728"/>
          </a:xfrm>
          <a:prstGeom prst="ellipse">
            <a:avLst/>
          </a:prstGeom>
          <a:solidFill>
            <a:srgbClr val="D9DD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9692640" cy="219456"/>
          </a:xfrm>
          <a:prstGeom prst="roundRect">
            <a:avLst>
              <a:gd name="adj" fmla="val 208333"/>
            </a:avLst>
          </a:prstGeom>
          <a:solidFill>
            <a:srgbClr val="FFFFFF"/>
          </a:solidFill>
          <a:ln w="9525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490472"/>
            <a:ext cx="9509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asistencia.sena.edu.co/reportes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Asistencia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412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94436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 /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596896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64608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07 /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5800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259689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595360" y="25968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1430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15468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81838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8388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Inasistencias registradas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251960"/>
            <a:ext cx="10332720" cy="347472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00584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4251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01200" y="42519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Asistencia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599432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005840" y="4599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07 / 2026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4599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4599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0" y="4599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91.6 %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983480"/>
            <a:ext cx="103327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005840" y="4983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07 / 2026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17520" y="4983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9496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4983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4983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95.8 %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536752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005840" y="5367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07 / 2026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17520" y="5367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3413974 - ADSO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9496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98080" y="5367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01200" y="53675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83.3 %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uso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un instructor al registrar la asistencia de una ficha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52247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52247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ingresa con sus credenciales institucionales.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1810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1985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35711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571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ficha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845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ficha y jornada correspondiente al día.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274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1917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19175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estado de cada aprendiz y guarda los cambios.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3575304"/>
            <a:ext cx="274320" cy="256032"/>
          </a:xfrm>
          <a:prstGeom prst="rightArrow">
            <a:avLst/>
          </a:prstGeom>
          <a:solidFill>
            <a:srgbClr val="9AA5A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089136" y="21945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02639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263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7201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de reportes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37947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exporta el reporte consolidado de asistencia.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estándar, de bajo costo y ampliamente documentadas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6809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6809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393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páginas del sistema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6285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6285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6869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visuales y hojas de diseño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357616" y="192024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357616" y="1920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63456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404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 responsiva y componentes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6809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6809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7393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 interactividad en cliente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6285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6285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6869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 y autenticación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9016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357616" y="361188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357616" y="3611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6345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0965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datos del sistema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mockups presentados con instructores y coordinación académica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92608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diseño de la base de datos en MySQL a partir del modelo entidad-relación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el desarrollo del módulo de autenticación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Toma de Asistencia — SENA · Ficha 3413974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del proyecto</a:t>
            </a:r>
            <a:endParaRPr lang="es-CO" sz="2800" dirty="0"/>
          </a:p>
        </p:txBody>
      </p:sp>
      <p:sp>
        <p:nvSpPr>
          <p:cNvPr id="3" name="Subtitle"/>
          <p:cNvSpPr/>
          <p:nvPr/>
        </p:nvSpPr>
        <p:spPr>
          <a:xfrm>
            <a:off x="548640" y="8046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referencia para el desarrollo e implementación del sistema</a:t>
            </a:r>
            <a:endParaRPr lang="es-CO" sz="1300" dirty="0"/>
          </a:p>
        </p:txBody>
      </p:sp>
      <p:sp>
        <p:nvSpPr>
          <p:cNvPr id="4" name="Card1 bg"/>
          <p:cNvSpPr/>
          <p:nvPr/>
        </p:nvSpPr>
        <p:spPr>
          <a:xfrm>
            <a:off x="539496" y="1417320"/>
            <a:ext cx="5419344" cy="137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Card1 amount"/>
          <p:cNvSpPr/>
          <p:nvPr/>
        </p:nvSpPr>
        <p:spPr>
          <a:xfrm>
            <a:off x="768096" y="1554480"/>
            <a:ext cx="496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$8.000.000 COP</a:t>
            </a:r>
            <a:endParaRPr lang="es-CO" sz="2200" dirty="0"/>
          </a:p>
        </p:txBody>
      </p:sp>
      <p:sp>
        <p:nvSpPr>
          <p:cNvPr id="6" name="Card1 label"/>
          <p:cNvSpPr/>
          <p:nvPr/>
        </p:nvSpPr>
        <p:spPr>
          <a:xfrm>
            <a:off x="768096" y="2103120"/>
            <a:ext cx="496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humano (equivalente comercial)</a:t>
            </a:r>
            <a:endParaRPr lang="es-CO" sz="1300" dirty="0"/>
          </a:p>
        </p:txBody>
      </p:sp>
      <p:sp>
        <p:nvSpPr>
          <p:cNvPr id="7" name="Card1 desc"/>
          <p:cNvSpPr/>
          <p:nvPr/>
        </p:nvSpPr>
        <p:spPr>
          <a:xfrm>
            <a:off x="768096" y="2377440"/>
            <a:ext cx="4961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desarrolladores · ~450 horas totales</a:t>
            </a:r>
            <a:endParaRPr lang="es-CO" sz="1100" dirty="0"/>
          </a:p>
        </p:txBody>
      </p:sp>
      <p:sp>
        <p:nvSpPr>
          <p:cNvPr id="8" name="Card2 bg"/>
          <p:cNvSpPr/>
          <p:nvPr/>
        </p:nvSpPr>
        <p:spPr>
          <a:xfrm>
            <a:off x="6233160" y="1417320"/>
            <a:ext cx="5419344" cy="137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Card2 amount"/>
          <p:cNvSpPr/>
          <p:nvPr/>
        </p:nvSpPr>
        <p:spPr>
          <a:xfrm>
            <a:off x="6461760" y="1554480"/>
            <a:ext cx="496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$250.000 COP</a:t>
            </a:r>
            <a:endParaRPr lang="es-CO" sz="2200" dirty="0"/>
          </a:p>
        </p:txBody>
      </p:sp>
      <p:sp>
        <p:nvSpPr>
          <p:cNvPr id="10" name="Card2 label"/>
          <p:cNvSpPr/>
          <p:nvPr/>
        </p:nvSpPr>
        <p:spPr>
          <a:xfrm>
            <a:off x="6461760" y="2103120"/>
            <a:ext cx="496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hosting</a:t>
            </a:r>
            <a:endParaRPr lang="es-CO" sz="1300" dirty="0"/>
          </a:p>
        </p:txBody>
      </p:sp>
      <p:sp>
        <p:nvSpPr>
          <p:cNvPr id="11" name="Card2 desc"/>
          <p:cNvSpPr/>
          <p:nvPr/>
        </p:nvSpPr>
        <p:spPr>
          <a:xfrm>
            <a:off x="6461760" y="2377440"/>
            <a:ext cx="4961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compartido + dominio (1 año)</a:t>
            </a:r>
            <a:endParaRPr lang="es-CO" sz="1100" dirty="0"/>
          </a:p>
        </p:txBody>
      </p:sp>
      <p:sp>
        <p:nvSpPr>
          <p:cNvPr id="12" name="Card3 bg"/>
          <p:cNvSpPr/>
          <p:nvPr/>
        </p:nvSpPr>
        <p:spPr>
          <a:xfrm>
            <a:off x="539496" y="3067320"/>
            <a:ext cx="5419344" cy="137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Card3 amount"/>
          <p:cNvSpPr/>
          <p:nvPr/>
        </p:nvSpPr>
        <p:spPr>
          <a:xfrm>
            <a:off x="768096" y="3204480"/>
            <a:ext cx="496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COP</a:t>
            </a:r>
            <a:endParaRPr lang="es-CO" sz="2200" dirty="0"/>
          </a:p>
        </p:txBody>
      </p:sp>
      <p:sp>
        <p:nvSpPr>
          <p:cNvPr id="14" name="Card3 label"/>
          <p:cNvSpPr/>
          <p:nvPr/>
        </p:nvSpPr>
        <p:spPr>
          <a:xfrm>
            <a:off x="768096" y="3753120"/>
            <a:ext cx="496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y herramientas</a:t>
            </a:r>
            <a:endParaRPr lang="es-CO" sz="1300" dirty="0"/>
          </a:p>
        </p:txBody>
      </p:sp>
      <p:sp>
        <p:nvSpPr>
          <p:cNvPr id="15" name="Card3 desc"/>
          <p:cNvSpPr/>
          <p:nvPr/>
        </p:nvSpPr>
        <p:spPr>
          <a:xfrm>
            <a:off x="768096" y="4027440"/>
            <a:ext cx="4961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PHP, MySQL y Bootstrap son de código abierto</a:t>
            </a:r>
            <a:endParaRPr lang="es-CO" sz="1100" dirty="0"/>
          </a:p>
        </p:txBody>
      </p:sp>
      <p:sp>
        <p:nvSpPr>
          <p:cNvPr id="16" name="Card4 bg"/>
          <p:cNvSpPr/>
          <p:nvPr/>
        </p:nvSpPr>
        <p:spPr>
          <a:xfrm>
            <a:off x="6233160" y="3067320"/>
            <a:ext cx="5419344" cy="137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D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Card4 amount"/>
          <p:cNvSpPr/>
          <p:nvPr/>
        </p:nvSpPr>
        <p:spPr>
          <a:xfrm>
            <a:off x="6461760" y="3204480"/>
            <a:ext cx="496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$825.000 COP</a:t>
            </a:r>
            <a:endParaRPr lang="es-CO" sz="2200" dirty="0"/>
          </a:p>
        </p:txBody>
      </p:sp>
      <p:sp>
        <p:nvSpPr>
          <p:cNvPr id="18" name="Card4 label"/>
          <p:cNvSpPr/>
          <p:nvPr/>
        </p:nvSpPr>
        <p:spPr>
          <a:xfrm>
            <a:off x="6461760" y="3753120"/>
            <a:ext cx="496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Imprevistos (contingencia 10%)</a:t>
            </a:r>
            <a:endParaRPr lang="es-CO" sz="1300" dirty="0"/>
          </a:p>
        </p:txBody>
      </p:sp>
      <p:sp>
        <p:nvSpPr>
          <p:cNvPr id="19" name="Card4 desc"/>
          <p:cNvSpPr/>
          <p:nvPr/>
        </p:nvSpPr>
        <p:spPr>
          <a:xfrm>
            <a:off x="6461760" y="4027440"/>
            <a:ext cx="4961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recurso humano e infraestructura</a:t>
            </a:r>
            <a:endParaRPr lang="es-CO" sz="1100" dirty="0"/>
          </a:p>
        </p:txBody>
      </p:sp>
      <p:sp>
        <p:nvSpPr>
          <p:cNvPr id="20" name="Total bg"/>
          <p:cNvSpPr/>
          <p:nvPr/>
        </p:nvSpPr>
        <p:spPr>
          <a:xfrm>
            <a:off x="539496" y="4717320"/>
            <a:ext cx="11113008" cy="8229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otal label"/>
          <p:cNvSpPr/>
          <p:nvPr/>
        </p:nvSpPr>
        <p:spPr>
          <a:xfrm>
            <a:off x="777240" y="4717320"/>
            <a:ext cx="500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total estimado</a:t>
            </a:r>
            <a:endParaRPr lang="es-CO" sz="1600" dirty="0"/>
          </a:p>
        </p:txBody>
      </p:sp>
      <p:sp>
        <p:nvSpPr>
          <p:cNvPr id="22" name="Total amount"/>
          <p:cNvSpPr/>
          <p:nvPr/>
        </p:nvSpPr>
        <p:spPr>
          <a:xfrm>
            <a:off x="6949440" y="4717320"/>
            <a:ext cx="4703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$9.075.000 COP</a:t>
            </a:r>
            <a:endParaRPr lang="es-CO" sz="2400" dirty="0"/>
          </a:p>
        </p:txBody>
      </p:sp>
      <p:sp>
        <p:nvSpPr>
          <p:cNvPr id="23" name="Note"/>
          <p:cNvSpPr/>
          <p:nvPr/>
        </p:nvSpPr>
        <p:spPr>
          <a:xfrm>
            <a:off x="539496" y="5790280"/>
            <a:ext cx="11113008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100" i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anterior corresponde a una estimación de referencia si el sistema se contratara en el mercado. El costo real para el SENA es de $0, al ser un proyecto formativo desarrollado por los aprendices.</a:t>
            </a:r>
            <a:endParaRPr lang="es-CO" sz="1200" i="1" dirty="0"/>
          </a:p>
        </p:txBody>
      </p:sp>
      <p:sp>
        <p:nvSpPr>
          <p:cNvPr id="24" name="Page number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O" sz="10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O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Panorámica</PresentationFormat>
  <Paragraphs>183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99A_10104118911</cp:lastModifiedBy>
  <cp:revision>3</cp:revision>
  <dcterms:created xsi:type="dcterms:W3CDTF">2026-07-11T13:55:08Z</dcterms:created>
  <dcterms:modified xsi:type="dcterms:W3CDTF">2026-07-11T19:25:39Z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2026-07-11T15:07:23Z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bc1bcb83-7431-42b0-bc23-3abc8587cda2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