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2138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 Documentación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057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Proyecto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carpetas numeradas que cubren todo el ciclo de vida: gobernanza, negocio, arquitectura, desarrollo y operación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607040" y="502920"/>
            <a:ext cx="164592" cy="16459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10972800" y="777240"/>
            <a:ext cx="109728" cy="109728"/>
          </a:xfrm>
          <a:prstGeom prst="ellipse">
            <a:avLst/>
          </a:prstGeom>
          <a:solidFill>
            <a:srgbClr val="4A557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10835640" y="365760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DOC-ROOT/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Árbol completo de carpetas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categorías + recursos compartidos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88336" cy="1481328"/>
          </a:xfrm>
          <a:prstGeom prst="roundRect">
            <a:avLst>
              <a:gd name="adj" fmla="val 3704"/>
            </a:avLst>
          </a:prstGeom>
          <a:solidFill>
            <a:srgbClr val="F4F6FC"/>
          </a:solidFill>
          <a:ln/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566928" y="1280160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566928" y="1280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32688" y="1261872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32688" y="1609344"/>
            <a:ext cx="2093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definition-of-done</a:t>
            </a:r>
            <a:endParaRPr lang="en-US" sz="83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definition-of-ready</a:t>
            </a:r>
            <a:endParaRPr lang="en-US" sz="83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documentation-rules</a:t>
            </a:r>
            <a:endParaRPr lang="en-US" sz="83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git-conventions</a:t>
            </a:r>
            <a:endParaRPr lang="en-US" sz="83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microservices-doc</a:t>
            </a:r>
            <a:endParaRPr lang="en-US" sz="83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security-rules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457200" y="2798064"/>
            <a:ext cx="2688336" cy="914400"/>
          </a:xfrm>
          <a:prstGeom prst="roundRect">
            <a:avLst>
              <a:gd name="adj" fmla="val 6000"/>
            </a:avLst>
          </a:prstGeom>
          <a:solidFill>
            <a:srgbClr val="F4F6FC"/>
          </a:solidFill>
          <a:ln/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566928" y="2889504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566928" y="2889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32688" y="2871216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32688" y="3218688"/>
            <a:ext cx="2093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</a:t>
            </a:r>
            <a:endParaRPr lang="en-US" sz="83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83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2688336" cy="914400"/>
          </a:xfrm>
          <a:prstGeom prst="roundRect">
            <a:avLst>
              <a:gd name="adj" fmla="val 6000"/>
            </a:avLst>
          </a:prstGeom>
          <a:solidFill>
            <a:srgbClr val="F4F6FC"/>
          </a:solidFill>
          <a:ln/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566928" y="3931920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566928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32688" y="3913632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32688" y="4261104"/>
            <a:ext cx="2093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domain-events</a:t>
            </a:r>
            <a:endParaRPr lang="en-US" sz="83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domain-map</a:t>
            </a:r>
            <a:endParaRPr lang="en-US" sz="83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entities-and-rules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457200" y="4882896"/>
            <a:ext cx="2688336" cy="868680"/>
          </a:xfrm>
          <a:prstGeom prst="roundRect">
            <a:avLst>
              <a:gd name="adj" fmla="val 6316"/>
            </a:avLst>
          </a:prstGeom>
          <a:solidFill>
            <a:srgbClr val="F4F6FC"/>
          </a:solidFill>
          <a:ln/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566928" y="497433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566928" y="4974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32688" y="4956048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32688" y="5303520"/>
            <a:ext cx="20939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product-backlog</a:t>
            </a:r>
            <a:endParaRPr lang="en-US" sz="83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83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3273552" y="1188720"/>
            <a:ext cx="2688336" cy="1344168"/>
          </a:xfrm>
          <a:prstGeom prst="roundRect">
            <a:avLst>
              <a:gd name="adj" fmla="val 4082"/>
            </a:avLst>
          </a:prstGeom>
          <a:solidFill>
            <a:srgbClr val="F4F6FC"/>
          </a:solidFill>
          <a:ln/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3383280" y="1280160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3383280" y="1280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749040" y="1261872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749040" y="1609344"/>
            <a:ext cx="20939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/ non-functional</a:t>
            </a:r>
            <a:endParaRPr lang="en-US" sz="83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traceability-matrix</a:t>
            </a:r>
            <a:endParaRPr lang="en-US" sz="83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user-stories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3273552" y="2660904"/>
            <a:ext cx="2688336" cy="1051560"/>
          </a:xfrm>
          <a:prstGeom prst="roundRect">
            <a:avLst>
              <a:gd name="adj" fmla="val 5217"/>
            </a:avLst>
          </a:prstGeom>
          <a:solidFill>
            <a:srgbClr val="F4F6FC"/>
          </a:solidFill>
          <a:ln/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3383280" y="2752344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3383280" y="2752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749040" y="2734056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749040" y="3081528"/>
            <a:ext cx="20939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decisions/records</a:t>
            </a:r>
            <a:endParaRPr lang="en-US" sz="83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</a:t>
            </a:r>
            <a:endParaRPr lang="en-US" sz="83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83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3273552" y="3840480"/>
            <a:ext cx="2688336" cy="868680"/>
          </a:xfrm>
          <a:prstGeom prst="roundRect">
            <a:avLst>
              <a:gd name="adj" fmla="val 6316"/>
            </a:avLst>
          </a:prstGeom>
          <a:solidFill>
            <a:srgbClr val="F4F6FC"/>
          </a:solidFill>
          <a:ln/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5" name="Shape 33"/>
          <p:cNvSpPr/>
          <p:nvPr/>
        </p:nvSpPr>
        <p:spPr>
          <a:xfrm>
            <a:off x="3383280" y="3931920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3383280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749040" y="3913632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3749040" y="4261104"/>
            <a:ext cx="20939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data-dictionary</a:t>
            </a:r>
            <a:endParaRPr lang="en-US" sz="83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migration-strategy</a:t>
            </a:r>
            <a:endParaRPr lang="en-US" sz="83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830" dirty="0"/>
          </a:p>
        </p:txBody>
      </p:sp>
      <p:sp>
        <p:nvSpPr>
          <p:cNvPr id="39" name="Shape 37"/>
          <p:cNvSpPr/>
          <p:nvPr/>
        </p:nvSpPr>
        <p:spPr>
          <a:xfrm>
            <a:off x="3273552" y="4837176"/>
            <a:ext cx="2688336" cy="868680"/>
          </a:xfrm>
          <a:prstGeom prst="roundRect">
            <a:avLst>
              <a:gd name="adj" fmla="val 6316"/>
            </a:avLst>
          </a:prstGeom>
          <a:solidFill>
            <a:srgbClr val="F4F6FC"/>
          </a:solidFill>
          <a:ln/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0" name="Shape 38"/>
          <p:cNvSpPr/>
          <p:nvPr/>
        </p:nvSpPr>
        <p:spPr>
          <a:xfrm>
            <a:off x="3383280" y="492861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1" name="Text 39"/>
          <p:cNvSpPr/>
          <p:nvPr/>
        </p:nvSpPr>
        <p:spPr>
          <a:xfrm>
            <a:off x="3383280" y="4928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749040" y="4910328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3749040" y="5257800"/>
            <a:ext cx="20939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contracts/openapi</a:t>
            </a:r>
            <a:endParaRPr lang="en-US" sz="83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83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</a:t>
            </a:r>
            <a:endParaRPr lang="en-US" sz="830" dirty="0"/>
          </a:p>
        </p:txBody>
      </p:sp>
      <p:sp>
        <p:nvSpPr>
          <p:cNvPr id="44" name="Shape 42"/>
          <p:cNvSpPr/>
          <p:nvPr/>
        </p:nvSpPr>
        <p:spPr>
          <a:xfrm>
            <a:off x="6089904" y="1188720"/>
            <a:ext cx="2688336" cy="914400"/>
          </a:xfrm>
          <a:prstGeom prst="roundRect">
            <a:avLst>
              <a:gd name="adj" fmla="val 6000"/>
            </a:avLst>
          </a:prstGeom>
          <a:solidFill>
            <a:srgbClr val="F4F6FC"/>
          </a:solidFill>
          <a:ln/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5" name="Shape 43"/>
          <p:cNvSpPr/>
          <p:nvPr/>
        </p:nvSpPr>
        <p:spPr>
          <a:xfrm>
            <a:off x="6199632" y="1280160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6" name="Text 44"/>
          <p:cNvSpPr/>
          <p:nvPr/>
        </p:nvSpPr>
        <p:spPr>
          <a:xfrm>
            <a:off x="6199632" y="1280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565392" y="1261872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6565392" y="1609344"/>
            <a:ext cx="2093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(exports/source)</a:t>
            </a:r>
            <a:endParaRPr lang="en-US" sz="83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diagram-index</a:t>
            </a:r>
            <a:endParaRPr lang="en-US" sz="830" dirty="0"/>
          </a:p>
        </p:txBody>
      </p:sp>
      <p:sp>
        <p:nvSpPr>
          <p:cNvPr id="49" name="Shape 47"/>
          <p:cNvSpPr/>
          <p:nvPr/>
        </p:nvSpPr>
        <p:spPr>
          <a:xfrm>
            <a:off x="6089904" y="2231136"/>
            <a:ext cx="2688336" cy="1188720"/>
          </a:xfrm>
          <a:prstGeom prst="roundRect">
            <a:avLst>
              <a:gd name="adj" fmla="val 4615"/>
            </a:avLst>
          </a:prstGeom>
          <a:solidFill>
            <a:srgbClr val="F4F6FC"/>
          </a:solidFill>
          <a:ln/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0" name="Shape 48"/>
          <p:cNvSpPr/>
          <p:nvPr/>
        </p:nvSpPr>
        <p:spPr>
          <a:xfrm>
            <a:off x="6199632" y="232257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1" name="Text 49"/>
          <p:cNvSpPr/>
          <p:nvPr/>
        </p:nvSpPr>
        <p:spPr>
          <a:xfrm>
            <a:off x="6199632" y="2322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565392" y="2304288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6565392" y="2651760"/>
            <a:ext cx="20939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_template (api/data/events)</a:t>
            </a:r>
            <a:endParaRPr lang="en-US" sz="83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83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communication-patterns</a:t>
            </a:r>
            <a:endParaRPr lang="en-US" sz="83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service-catalog · runbook</a:t>
            </a:r>
            <a:endParaRPr lang="en-US" sz="830" dirty="0"/>
          </a:p>
        </p:txBody>
      </p:sp>
      <p:sp>
        <p:nvSpPr>
          <p:cNvPr id="54" name="Shape 52"/>
          <p:cNvSpPr/>
          <p:nvPr/>
        </p:nvSpPr>
        <p:spPr>
          <a:xfrm>
            <a:off x="6089904" y="3547872"/>
            <a:ext cx="2688336" cy="868680"/>
          </a:xfrm>
          <a:prstGeom prst="roundRect">
            <a:avLst>
              <a:gd name="adj" fmla="val 6316"/>
            </a:avLst>
          </a:prstGeom>
          <a:solidFill>
            <a:srgbClr val="F4F6FC"/>
          </a:solidFill>
          <a:ln/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5" name="Shape 53"/>
          <p:cNvSpPr/>
          <p:nvPr/>
        </p:nvSpPr>
        <p:spPr>
          <a:xfrm>
            <a:off x="6199632" y="3639312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6" name="Text 54"/>
          <p:cNvSpPr/>
          <p:nvPr/>
        </p:nvSpPr>
        <p:spPr>
          <a:xfrm>
            <a:off x="6199632" y="3639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565392" y="3621024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6565392" y="3968496"/>
            <a:ext cx="20939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ci-cd</a:t>
            </a:r>
            <a:endParaRPr lang="en-US" sz="83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</a:t>
            </a:r>
            <a:endParaRPr lang="en-US" sz="83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local-setup</a:t>
            </a:r>
            <a:endParaRPr lang="en-US" sz="830" dirty="0"/>
          </a:p>
        </p:txBody>
      </p:sp>
      <p:sp>
        <p:nvSpPr>
          <p:cNvPr id="59" name="Shape 57"/>
          <p:cNvSpPr/>
          <p:nvPr/>
        </p:nvSpPr>
        <p:spPr>
          <a:xfrm>
            <a:off x="6089904" y="4544568"/>
            <a:ext cx="2688336" cy="6858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/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0" name="Shape 58"/>
          <p:cNvSpPr/>
          <p:nvPr/>
        </p:nvSpPr>
        <p:spPr>
          <a:xfrm>
            <a:off x="6199632" y="4636008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1" name="Text 59"/>
          <p:cNvSpPr/>
          <p:nvPr/>
        </p:nvSpPr>
        <p:spPr>
          <a:xfrm>
            <a:off x="6199632" y="4636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565392" y="4617720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250" dirty="0"/>
          </a:p>
        </p:txBody>
      </p:sp>
      <p:sp>
        <p:nvSpPr>
          <p:cNvPr id="63" name="Text 61"/>
          <p:cNvSpPr/>
          <p:nvPr/>
        </p:nvSpPr>
        <p:spPr>
          <a:xfrm>
            <a:off x="6565392" y="4965192"/>
            <a:ext cx="20939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code-review</a:t>
            </a:r>
            <a:endParaRPr lang="en-US" sz="83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testing-strategy</a:t>
            </a:r>
            <a:endParaRPr lang="en-US" sz="830" dirty="0"/>
          </a:p>
        </p:txBody>
      </p:sp>
      <p:sp>
        <p:nvSpPr>
          <p:cNvPr id="64" name="Shape 62"/>
          <p:cNvSpPr/>
          <p:nvPr/>
        </p:nvSpPr>
        <p:spPr>
          <a:xfrm>
            <a:off x="8906256" y="1188720"/>
            <a:ext cx="2688336" cy="868680"/>
          </a:xfrm>
          <a:prstGeom prst="roundRect">
            <a:avLst>
              <a:gd name="adj" fmla="val 6316"/>
            </a:avLst>
          </a:prstGeom>
          <a:solidFill>
            <a:srgbClr val="F4F6FC"/>
          </a:solidFill>
          <a:ln/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5" name="Shape 63"/>
          <p:cNvSpPr/>
          <p:nvPr/>
        </p:nvSpPr>
        <p:spPr>
          <a:xfrm>
            <a:off x="9015984" y="1280160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6" name="Text 64"/>
          <p:cNvSpPr/>
          <p:nvPr/>
        </p:nvSpPr>
        <p:spPr>
          <a:xfrm>
            <a:off x="9015984" y="1280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9381744" y="1261872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ux-ui</a:t>
            </a:r>
            <a:endParaRPr lang="en-US" sz="1250" dirty="0"/>
          </a:p>
        </p:txBody>
      </p:sp>
      <p:sp>
        <p:nvSpPr>
          <p:cNvPr id="68" name="Text 66"/>
          <p:cNvSpPr/>
          <p:nvPr/>
        </p:nvSpPr>
        <p:spPr>
          <a:xfrm>
            <a:off x="9381744" y="1609344"/>
            <a:ext cx="20939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design-system</a:t>
            </a:r>
            <a:endParaRPr lang="en-US" sz="83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navigation-map</a:t>
            </a:r>
            <a:endParaRPr lang="en-US" sz="83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</a:t>
            </a:r>
            <a:endParaRPr lang="en-US" sz="830" dirty="0"/>
          </a:p>
        </p:txBody>
      </p:sp>
      <p:sp>
        <p:nvSpPr>
          <p:cNvPr id="69" name="Shape 67"/>
          <p:cNvSpPr/>
          <p:nvPr/>
        </p:nvSpPr>
        <p:spPr>
          <a:xfrm>
            <a:off x="8906256" y="2185416"/>
            <a:ext cx="2688336" cy="868680"/>
          </a:xfrm>
          <a:prstGeom prst="roundRect">
            <a:avLst>
              <a:gd name="adj" fmla="val 6316"/>
            </a:avLst>
          </a:prstGeom>
          <a:solidFill>
            <a:srgbClr val="F4F6FC"/>
          </a:solidFill>
          <a:ln/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0" name="Shape 68"/>
          <p:cNvSpPr/>
          <p:nvPr/>
        </p:nvSpPr>
        <p:spPr>
          <a:xfrm>
            <a:off x="9015984" y="227685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1" name="Text 69"/>
          <p:cNvSpPr/>
          <p:nvPr/>
        </p:nvSpPr>
        <p:spPr>
          <a:xfrm>
            <a:off x="9015984" y="2276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9381744" y="2258568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50" dirty="0"/>
          </a:p>
        </p:txBody>
      </p:sp>
      <p:sp>
        <p:nvSpPr>
          <p:cNvPr id="73" name="Text 71"/>
          <p:cNvSpPr/>
          <p:nvPr/>
        </p:nvSpPr>
        <p:spPr>
          <a:xfrm>
            <a:off x="9381744" y="2606040"/>
            <a:ext cx="20939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backup-and-recovery</a:t>
            </a:r>
            <a:endParaRPr lang="en-US" sz="83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incident-management</a:t>
            </a:r>
            <a:endParaRPr lang="en-US" sz="83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830" dirty="0"/>
          </a:p>
        </p:txBody>
      </p:sp>
      <p:sp>
        <p:nvSpPr>
          <p:cNvPr id="74" name="Shape 72"/>
          <p:cNvSpPr/>
          <p:nvPr/>
        </p:nvSpPr>
        <p:spPr>
          <a:xfrm>
            <a:off x="8906256" y="3182112"/>
            <a:ext cx="2688336" cy="868680"/>
          </a:xfrm>
          <a:prstGeom prst="roundRect">
            <a:avLst>
              <a:gd name="adj" fmla="val 6316"/>
            </a:avLst>
          </a:prstGeom>
          <a:solidFill>
            <a:srgbClr val="F4F6FC"/>
          </a:solidFill>
          <a:ln/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5" name="Shape 73"/>
          <p:cNvSpPr/>
          <p:nvPr/>
        </p:nvSpPr>
        <p:spPr>
          <a:xfrm>
            <a:off x="9015984" y="3273552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6" name="Text 74"/>
          <p:cNvSpPr/>
          <p:nvPr/>
        </p:nvSpPr>
        <p:spPr>
          <a:xfrm>
            <a:off x="9015984" y="3273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9381744" y="3255264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50" dirty="0"/>
          </a:p>
        </p:txBody>
      </p:sp>
      <p:sp>
        <p:nvSpPr>
          <p:cNvPr id="78" name="Text 76"/>
          <p:cNvSpPr/>
          <p:nvPr/>
        </p:nvSpPr>
        <p:spPr>
          <a:xfrm>
            <a:off x="9381744" y="3602736"/>
            <a:ext cx="20939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admin-manual</a:t>
            </a:r>
            <a:endParaRPr lang="en-US" sz="83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technical-onboarding</a:t>
            </a:r>
            <a:endParaRPr lang="en-US" sz="83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user-manual</a:t>
            </a:r>
            <a:endParaRPr lang="en-US" sz="830" dirty="0"/>
          </a:p>
        </p:txBody>
      </p:sp>
      <p:sp>
        <p:nvSpPr>
          <p:cNvPr id="79" name="Shape 77"/>
          <p:cNvSpPr/>
          <p:nvPr/>
        </p:nvSpPr>
        <p:spPr>
          <a:xfrm>
            <a:off x="8906256" y="4178808"/>
            <a:ext cx="2688336" cy="1188720"/>
          </a:xfrm>
          <a:prstGeom prst="roundRect">
            <a:avLst>
              <a:gd name="adj" fmla="val 4615"/>
            </a:avLst>
          </a:prstGeom>
          <a:solidFill>
            <a:srgbClr val="F4F6FC"/>
          </a:solidFill>
          <a:ln/>
          <a:effectLst>
            <a:outerShdw blurRad="50800" dist="127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0" name="Shape 78"/>
          <p:cNvSpPr/>
          <p:nvPr/>
        </p:nvSpPr>
        <p:spPr>
          <a:xfrm>
            <a:off x="9015984" y="4270248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1" name="Text 79"/>
          <p:cNvSpPr/>
          <p:nvPr/>
        </p:nvSpPr>
        <p:spPr>
          <a:xfrm>
            <a:off x="9015984" y="4270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9381744" y="4251960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project-control</a:t>
            </a:r>
            <a:endParaRPr lang="en-US" sz="1250" dirty="0"/>
          </a:p>
        </p:txBody>
      </p:sp>
      <p:sp>
        <p:nvSpPr>
          <p:cNvPr id="83" name="Text 81"/>
          <p:cNvSpPr/>
          <p:nvPr/>
        </p:nvSpPr>
        <p:spPr>
          <a:xfrm>
            <a:off x="9381744" y="4599432"/>
            <a:ext cx="20939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83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open-questions</a:t>
            </a:r>
            <a:endParaRPr lang="en-US" sz="83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83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technical-backlog</a:t>
            </a:r>
            <a:endParaRPr lang="en-US" sz="8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</Words>
  <Application>Microsoft Office PowerPoint</Application>
  <PresentationFormat>Panorámica</PresentationFormat>
  <Paragraphs>92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Estructura de Documentación del Proyecto</dc:title>
  <dc:subject>PptxGenJS Presentation</dc:subject>
  <dc:creator>Equipo</dc:creator>
  <cp:lastModifiedBy>Aprendiz</cp:lastModifiedBy>
  <cp:revision>1</cp:revision>
  <dcterms:created xsi:type="dcterms:W3CDTF">2026-06-20T14:43:56Z</dcterms:created>
  <dcterms:modified xsi:type="dcterms:W3CDTF">2026-06-20T14:46:38Z</dcterms:modified>
</cp:coreProperties>
</file>