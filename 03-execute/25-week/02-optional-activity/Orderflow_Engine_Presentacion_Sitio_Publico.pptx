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6" r:id="rId37"/>
    <p:sldId id="287" r:id="rId38"/>
    <p:sldId id="288" r:id="rId39"/>
    <p:sldId id="289" r:id="rId4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366760" y="960120"/>
            <a:ext cx="2560320" cy="146304"/>
          </a:xfrm>
          <a:prstGeom prst="round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23960" y="1435608"/>
            <a:ext cx="2103120" cy="146304"/>
          </a:xfrm>
          <a:prstGeom prst="roundRect">
            <a:avLst/>
          </a:prstGeom>
          <a:solidFill>
            <a:srgbClr val="56BCC6"/>
          </a:solidFill>
          <a:ln>
            <a:solidFill>
              <a:srgbClr val="56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81160" y="1911095"/>
            <a:ext cx="1645920" cy="146304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0" y="3154680"/>
            <a:ext cx="292608" cy="1280160"/>
          </a:xfrm>
          <a:prstGeom prst="round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99448" y="3154680"/>
            <a:ext cx="292608" cy="1280160"/>
          </a:xfrm>
          <a:prstGeom prst="roundRect">
            <a:avLst/>
          </a:prstGeom>
          <a:solidFill>
            <a:srgbClr val="2863A1"/>
          </a:solidFill>
          <a:ln>
            <a:solidFill>
              <a:srgbClr val="2863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20656" y="3154680"/>
            <a:ext cx="292608" cy="1280160"/>
          </a:xfrm>
          <a:prstGeom prst="roundRect">
            <a:avLst/>
          </a:prstGeom>
          <a:solidFill>
            <a:srgbClr val="56BCC6"/>
          </a:solidFill>
          <a:ln>
            <a:solidFill>
              <a:srgbClr val="56B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341863" y="3154680"/>
            <a:ext cx="292608" cy="1280160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115568"/>
            <a:ext cx="731520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3800" b="1" i="0">
                <a:solidFill>
                  <a:srgbClr val="FFFFFF"/>
                </a:solidFill>
                <a:latin typeface="Aptos"/>
              </a:defRPr>
            </a:pPr>
            <a:r>
              <a:t>ORDERFLOW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148840"/>
            <a:ext cx="726948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300" b="0" i="0">
                <a:solidFill>
                  <a:srgbClr val="CBE1ED"/>
                </a:solidFill>
                <a:latin typeface="Aptos"/>
              </a:defRPr>
            </a:pPr>
            <a:r>
              <a:t>Sitio oficial, arquitectura y garantías transaccionales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7132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E8B03F"/>
                </a:solidFill>
                <a:latin typeface="Aptos"/>
              </a:defRPr>
            </a:pPr>
            <a:r>
              <a:t>Presentación basada en la web pública y sus repositorios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72237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C5D1DC"/>
                </a:solidFill>
                <a:latin typeface="Aptos"/>
              </a:defRPr>
            </a:pPr>
            <a:r>
              <a:t>Motor de precios · PostgreSQL · idempotencia · Outbox · multi-tenancy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7223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97AEBF"/>
                </a:solidFill>
                <a:latin typeface="Aptos"/>
              </a:defRPr>
            </a:pPr>
            <a:r>
              <a:t>Fuentes web consultadas · 17 de octubre de 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sitio público y repositorios enlazados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El proyecto 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Resolver el precio exacto y confirmar pedidos sin perder consistencia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71600"/>
            <a:ext cx="34930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71600"/>
            <a:ext cx="82296" cy="3520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3619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PRECIO DETERMINISTA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84832"/>
            <a:ext cx="3108960" cy="2679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Descuentos por escala, combos, obsequios e impuestos deben coexistir en un orden explícito.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371600"/>
            <a:ext cx="34930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371600"/>
            <a:ext cx="82296" cy="352044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3619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CONFIRMACIÓN DURABLE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084832"/>
            <a:ext cx="3108960" cy="2679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El precio aceptado no cambia; un 201 significa que la orden ya está persistida y consultable.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493008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71600"/>
            <a:ext cx="82296" cy="352044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3619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EVENTOS RESILIENTES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084832"/>
            <a:ext cx="3108960" cy="2679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Push y ERP siguen recibiendo eventos ante fallos; los receptores deben evitar efectos duplicados.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0352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3400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La calidad se demuestra con invariantes y pruebas, no solamente con endpoints.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Tres patologías que el diseño busca eliminar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enunciado parte de fallos de precio, persistencia e integración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656"/>
                <a:gridCol w="3730752"/>
                <a:gridCol w="4279392"/>
              </a:tblGrid>
              <a:tr h="123901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Problema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Consecuencia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Respuesta arquitectónica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Total cambia entre cotización y confirmación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El cliente termina pagando un valor distinto al aceptado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Cotización sellada; pedido referencia la cotización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“201 fantasma”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Se devuelve número de orden y luego no aparece en historial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201 solo después del commit; lectura inmediata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Evento perdido o duplicado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ERP/Push queda incompleto o recibe efecto repetido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Transactional Outbox + reintentos + deduplicación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Flujo funcional del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Del catálogo al historial; cada fase tiene una responsabilidad distinta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Oval 8"/>
          <p:cNvSpPr/>
          <p:nvPr/>
        </p:nvSpPr>
        <p:spPr>
          <a:xfrm>
            <a:off x="1298448" y="1965960"/>
            <a:ext cx="438912" cy="43891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542032"/>
            <a:ext cx="82296" cy="219456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SKU y precios de lista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32888" y="3611880"/>
            <a:ext cx="25603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584448" y="1965960"/>
            <a:ext cx="438912" cy="43891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52928" y="2542032"/>
            <a:ext cx="82296" cy="219456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54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Carrito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SKU + cantidad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18888" y="3611880"/>
            <a:ext cx="25603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870448" y="1965960"/>
            <a:ext cx="438912" cy="43891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8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2542032"/>
            <a:ext cx="82296" cy="219456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0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Cotización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0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Palancas + impuestos + total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04888" y="3611880"/>
            <a:ext cx="256031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156448" y="1965960"/>
            <a:ext cx="438912" cy="438912"/>
          </a:xfrm>
          <a:prstGeom prst="ellipse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24927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24927" y="2542032"/>
            <a:ext cx="82296" cy="219456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Confirmación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6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Idempotencia + crédito + commit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90888" y="3611880"/>
            <a:ext cx="256031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442448" y="1965960"/>
            <a:ext cx="438912" cy="438912"/>
          </a:xfrm>
          <a:prstGeom prst="ellipse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1975103"/>
            <a:ext cx="43891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10928" y="2542032"/>
            <a:ext cx="1938528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10928" y="2542032"/>
            <a:ext cx="82296" cy="219456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12096" y="2706624"/>
            <a:ext cx="155448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Historial / ERP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2096" y="3255263"/>
            <a:ext cx="1554480" cy="1353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Pedido durable + eventos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25780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29437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La API es la autoridad del cálculo; Angular presenta el desglose, no vuelve a calcularlo.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Qué exige la prueba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Tres bloques obligatorios y un complemento de frontend opcional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389888"/>
            <a:ext cx="349300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89888"/>
            <a:ext cx="82296" cy="429768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54480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A1 · MOTOR DE PRECIOS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03120"/>
            <a:ext cx="3108960" cy="3456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Desglose completo por línea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Orden de las palancas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Cupo de crédito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Dinero exacto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Configuración multi-país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389888"/>
            <a:ext cx="349300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389888"/>
            <a:ext cx="82296" cy="429768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54480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A2 · CONFIRMACIÓN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03120"/>
            <a:ext cx="3108960" cy="3456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Idempotency-Key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No duplicar pedidos/crédito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HTTP 201 durable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Outbox para Push/ERP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Modelo de consistencia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89888"/>
            <a:ext cx="349300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389888"/>
            <a:ext cx="82296" cy="429768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54480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A3 · ADR / 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03120"/>
            <a:ext cx="3108960" cy="3456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ADR de máximo una página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Alternativas y exclusiones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Foco de code review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Un riesgo y mitigación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Front opcional con UI robusta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9788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93445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Golden tests obligatorios: seis escenarios, descritos más adelante.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Arquitectura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Single Origin: el navegador ve al web server y este hace proxy de /api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65960"/>
            <a:ext cx="82296" cy="1234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130552"/>
            <a:ext cx="18105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ANGULAR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679191"/>
            <a:ext cx="181051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Catálogo / carrito / resumen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965960"/>
            <a:ext cx="2148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965960"/>
            <a:ext cx="82296" cy="123444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130552"/>
            <a:ext cx="17647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NGINX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679191"/>
            <a:ext cx="176479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Archivos estáticos + proxy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196596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1965960"/>
            <a:ext cx="82296" cy="123444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07607" y="2130552"/>
            <a:ext cx="1947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SPRING BOOT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7" y="2679191"/>
            <a:ext cx="194767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Casos de uso + dominio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965960"/>
            <a:ext cx="2423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9640" y="1965960"/>
            <a:ext cx="82296" cy="123444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0808" y="2130552"/>
            <a:ext cx="20391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0223B"/>
                </a:solidFill>
                <a:latin typeface="Aptos"/>
              </a:defRPr>
            </a:pPr>
            <a:r>
              <a:t>POSTGRESQL 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2679191"/>
            <a:ext cx="2039112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23140"/>
                </a:solidFill>
                <a:latin typeface="Aptos"/>
              </a:defRPr>
            </a:pPr>
            <a:r>
              <a:t>ACID + cotizaciones + pedidos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52928" y="2578608"/>
            <a:ext cx="34747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04104" y="2578608"/>
            <a:ext cx="356616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56448" y="2578608"/>
            <a:ext cx="34747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06440" y="4114800"/>
            <a:ext cx="2331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4114800"/>
            <a:ext cx="82296" cy="10058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07607" y="4279392"/>
            <a:ext cx="1947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OUTBOX RELAY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07607" y="4828032"/>
            <a:ext cx="194767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Proceso en segundo plano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4114800"/>
            <a:ext cx="1115568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9640" y="4114800"/>
            <a:ext cx="82296" cy="100584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4279392"/>
            <a:ext cx="73152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PUSH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8" y="4828032"/>
            <a:ext cx="731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Gateway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4114800"/>
            <a:ext cx="1097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75520" y="4114800"/>
            <a:ext cx="82296" cy="100584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8" y="4279392"/>
            <a:ext cx="71323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ERP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76688" y="4828032"/>
            <a:ext cx="713232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Publisher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76872" y="3227832"/>
            <a:ext cx="0" cy="822959"/>
          </a:xfrm>
          <a:prstGeom prst="line">
            <a:avLst/>
          </a:prstGeom>
          <a:ln w="2286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183879" y="4617720"/>
            <a:ext cx="301753" cy="0"/>
          </a:xfrm>
          <a:prstGeom prst="line">
            <a:avLst/>
          </a:prstGeom>
          <a:ln w="2286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183879" y="4910328"/>
            <a:ext cx="1645921" cy="0"/>
          </a:xfrm>
          <a:prstGeom prst="line">
            <a:avLst/>
          </a:prstGeom>
          <a:ln w="22860">
            <a:solidFill>
              <a:srgbClr val="E8B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0080" y="5705856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742432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Push/ERP no se llaman dentro de la transacción de confirmación.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Arquitectura hexagonal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Las dependencias apuntan hacia el dominio; infraestructura queda detrás de puertos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377440"/>
            <a:ext cx="3063240" cy="1234440"/>
          </a:xfrm>
          <a:prstGeom prst="roundRect">
            <a:avLst/>
          </a:prstGeom>
          <a:solidFill>
            <a:srgbClr val="E2F4F2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578608"/>
            <a:ext cx="2651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DOMINIO PURO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80944"/>
            <a:ext cx="25146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PricingEngine · Money · Breakdown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1536192"/>
            <a:ext cx="4160520" cy="548640"/>
          </a:xfrm>
          <a:prstGeom prst="roundRect">
            <a:avLst/>
          </a:prstGeom>
          <a:solidFill>
            <a:srgbClr val="EBF2F8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6512" y="1655064"/>
            <a:ext cx="38404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CASOS DE USO · QUOTE / CONFIRM / OUTBOX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16752" y="2093976"/>
            <a:ext cx="0" cy="237744"/>
          </a:xfrm>
          <a:prstGeom prst="line">
            <a:avLst/>
          </a:prstGeom>
          <a:ln w="2286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2423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423160"/>
            <a:ext cx="82296" cy="118872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587752"/>
            <a:ext cx="21305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ENTRADA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3136391"/>
            <a:ext cx="21305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REST controllers / DTOs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2423160"/>
            <a:ext cx="2514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42832" y="2423160"/>
            <a:ext cx="82296" cy="118872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587752"/>
            <a:ext cx="21305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SALIDA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136391"/>
            <a:ext cx="213055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JdbcClient / repositorios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2999232"/>
            <a:ext cx="1188720" cy="0"/>
          </a:xfrm>
          <a:prstGeom prst="line">
            <a:avLst/>
          </a:prstGeom>
          <a:ln w="22860">
            <a:solidFill>
              <a:srgbClr val="346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2999232"/>
            <a:ext cx="1252729" cy="0"/>
          </a:xfrm>
          <a:prstGeom prst="line">
            <a:avLst/>
          </a:prstGeom>
          <a:ln w="22860">
            <a:solidFill>
              <a:srgbClr val="E8B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40280" y="4325112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0280" y="4325112"/>
            <a:ext cx="82296" cy="96012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41448" y="4489704"/>
            <a:ext cx="26334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PRUEBAS DE ARQUITECTURA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41448" y="5038344"/>
            <a:ext cx="263347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ArchUnit evita dependencias indebidas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4325112"/>
            <a:ext cx="30175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4325112"/>
            <a:ext cx="82296" cy="960120"/>
          </a:xfrm>
          <a:prstGeom prst="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888" y="4489704"/>
            <a:ext cx="26334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REGLA DE ORO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5038344"/>
            <a:ext cx="2633472" cy="118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Dominio sin Spring, JDBC ni HTTP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Por qué monolito modular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 confirmación crítica gana atomicidad sin coordinación distribuida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572768"/>
            <a:ext cx="82296" cy="356616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1737360"/>
            <a:ext cx="482803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ELECCIÓN: MONOLITO MODULAR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286000"/>
            <a:ext cx="4828032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Un despliegue principal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Límites internos claros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Una transacción ACID local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Menos dependencia de red entre módulos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72768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572768"/>
            <a:ext cx="82296" cy="3566160"/>
          </a:xfrm>
          <a:prstGeom prst="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482803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ALTERNATIVA DESCARTADA: MICROSERVICIOS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4828032" cy="2724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Pedido/crédito/cotización quedarían distribuidos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Requeriría Saga o coordinación adicional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Mayor riesgo de estados parciales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• Complejidad mayor para el alcance actual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55686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Trade-off: la atomicidad local simplifica la garantía; los locks sobre cuentas activas pueden reducir concurrencia.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Motor de precios: orden documentado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No es intercambiable: evita doble beneficio y calcula el impuesto sobre la base correcta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81328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618488"/>
            <a:ext cx="347472" cy="34747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27632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00200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Elegibilidad del regalo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066544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Compra pagada / subtotal bruto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2148840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84448" y="1481328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12463" y="1618488"/>
            <a:ext cx="347472" cy="34747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3" y="1627632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600200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Combos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066544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Consumen unidades elegibles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81344" y="2148840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37375" y="1481328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65391" y="1618488"/>
            <a:ext cx="347472" cy="34747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1" y="1627632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3" y="1600200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Escalas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7" y="2066544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Solo unidades no consumidas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34272" y="2148840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90304" y="1481328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1618488"/>
            <a:ext cx="347472" cy="347472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627632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1600200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Neto por línea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4896" y="2066544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Bruto − descuentos comerciales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2461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" y="3383279"/>
            <a:ext cx="347472" cy="34747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3392423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3364991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Base gravable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3831335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Después de descuentos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28416" y="3913631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584448" y="32461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712463" y="3383279"/>
            <a:ext cx="347472" cy="34747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12463" y="3392423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51376" y="3364991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Impuesto por línea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39" y="3831335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Tasa SKU + redondeo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81344" y="3913631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437375" y="32461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65391" y="3383279"/>
            <a:ext cx="347472" cy="34747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5391" y="3392423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04303" y="3364991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7" y="3831335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Suma de netos + impuestos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034272" y="3913631"/>
            <a:ext cx="219456" cy="0"/>
          </a:xfrm>
          <a:prstGeom prst="line">
            <a:avLst/>
          </a:prstGeom>
          <a:ln w="1778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290304" y="3246120"/>
            <a:ext cx="257860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418320" y="3383279"/>
            <a:ext cx="347472" cy="347472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3392423"/>
            <a:ext cx="34747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7232" y="3364991"/>
            <a:ext cx="1892807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Crédito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54896" y="3831335"/>
            <a:ext cx="22494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Capa de aplicación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544068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547725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Crédito se valida con el total final, no con el bruto ni antes de impuestos.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Descuento por escala: ejemplo de la documentación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Los tramos son marginales: no se aplican todos los porcentajes a todas las unidades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4389120"/>
                <a:gridCol w="3511296"/>
              </a:tblGrid>
              <a:tr h="61950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Concepto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Operación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Resultado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Bruto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25 × 2.500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62.500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Tramo 10–19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10 × 2.500 × 5 %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1.250 COP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Tramo 20–25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6 × 2.500 × 10 %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1.500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Descuento total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1.250 + 1.500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2.750 COP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Base neta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62.500 − 2.750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59.750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Impuesto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59.750 × 19 %, HALF_UP escala 0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11.353 COP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59.750 + 11.353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71.103 COP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989320"/>
            <a:ext cx="10927080" cy="384048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60258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B44242"/>
                </a:solidFill>
                <a:latin typeface="Aptos"/>
              </a:defRPr>
            </a:pPr>
            <a:r>
              <a:t>Trampas: redondear por tramo, aplicar 10 % a las 25 unidades o contar como pagadas las unidades de combo/regalo.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Combos y obsequios: reglas delicadas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desglose debe ser auditable y no duplicar el beneficio comercial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63040"/>
            <a:ext cx="3493008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63040"/>
            <a:ext cx="82296" cy="406908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2763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COMBOS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176272"/>
            <a:ext cx="3108960" cy="3227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Se evalúan por ID; consumen las unidades restantes.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Las unidades consumidas no reciben escala.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Si precio combo ≥ valor de lista, no aplica.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El descuento se registra con origen `COMBO:&lt;id&gt;`.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63040"/>
            <a:ext cx="3493008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2544" y="1463040"/>
            <a:ext cx="82296" cy="406908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62763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REPARTO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176272"/>
            <a:ext cx="3108960" cy="3227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El descuento global se distribuye entre líneas.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El método del resto mayor conserva la suma exacta.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`comboAllocations` apoya base gravable; no debe duplicar el descuento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493008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82296" cy="406908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108960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OBSEQUIOS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76272"/>
            <a:ext cx="3108960" cy="3227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Mostrar SKU y cantidad.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Precio del producto regalado: cero.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La base tributaria depende de la política de país.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• No contar el regalo para disparar su propia regla.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Dinero exacto y política multi-país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Money + BigDecimal; moneda, escala, tasas y redondeo pertenecen a la política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4892040" cy="1143000"/>
          </a:xfrm>
          <a:prstGeom prst="roundRect">
            <a:avLst/>
          </a:prstGeom>
          <a:solidFill>
            <a:srgbClr val="E2F4F2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627632"/>
            <a:ext cx="4480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10223B"/>
                </a:solidFill>
                <a:latin typeface="Aptos"/>
              </a:defRPr>
            </a:pPr>
            <a:r>
              <a:t>Money = BigDecimal + CurrencyPolicy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48256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050" b="0" i="0">
                <a:solidFill>
                  <a:srgbClr val="008E91"/>
                </a:solidFill>
                <a:latin typeface="Aptos"/>
              </a:defRPr>
            </a:pPr>
            <a:r>
              <a:t>Inmutable · no mezclar monedas · sin float/double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834640"/>
            <a:ext cx="365760" cy="36576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43784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848356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Precio × cantidad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48356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Exacto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3419856"/>
            <a:ext cx="365760" cy="36576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429000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3433572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Descuento de línea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433572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Escala país / HALF_UP</a:t>
            </a:r>
          </a:p>
        </p:txBody>
      </p:sp>
      <p:sp>
        <p:nvSpPr>
          <p:cNvPr id="20" name="Oval 19"/>
          <p:cNvSpPr/>
          <p:nvPr/>
        </p:nvSpPr>
        <p:spPr>
          <a:xfrm>
            <a:off x="6126480" y="4005072"/>
            <a:ext cx="365760" cy="36576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014215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018787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Neto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018787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Bruto − descuentos</a:t>
            </a:r>
          </a:p>
        </p:txBody>
      </p:sp>
      <p:sp>
        <p:nvSpPr>
          <p:cNvPr id="24" name="Oval 23"/>
          <p:cNvSpPr/>
          <p:nvPr/>
        </p:nvSpPr>
        <p:spPr>
          <a:xfrm>
            <a:off x="6126480" y="4590288"/>
            <a:ext cx="365760" cy="36576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599431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604003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Impuesto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04003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Por línea / HALF_UP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0" y="5175504"/>
            <a:ext cx="365760" cy="365760"/>
          </a:xfrm>
          <a:prstGeom prst="ellipse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5184648"/>
            <a:ext cx="3657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RP-5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5189220"/>
            <a:ext cx="2103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1" i="0">
                <a:solidFill>
                  <a:srgbClr val="10223B"/>
                </a:solidFill>
                <a:latin typeface="Aptos"/>
              </a:defRPr>
            </a:pPr>
            <a:r>
              <a:t>Total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18922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Sumar sin redondear de nuevo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97880"/>
            <a:ext cx="10927080" cy="384048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93445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B44242"/>
                </a:solidFill>
                <a:latin typeface="Aptos"/>
              </a:defRPr>
            </a:pPr>
            <a:r>
              <a:t>Trampas: float/double, escala de 2 decimales fija, tasas hardcodeadas o redondear otra vez el total.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Cotización sellada · Invariante G-1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pedido referencia la cotización; no recopia sus importes y no recalcula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2834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22860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56232"/>
            <a:ext cx="24505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1 · COTIZAR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04872"/>
            <a:ext cx="2450592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El motor calcula y persiste: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`quotes`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`quote_lines`</a:t>
            </a:r>
          </a:p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`quote_line_adjustments`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11880" y="2834640"/>
            <a:ext cx="57607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60" y="1691640"/>
            <a:ext cx="28346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691640"/>
            <a:ext cx="82296" cy="228600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856232"/>
            <a:ext cx="24505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2 · SELLAR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04872"/>
            <a:ext cx="2450592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La cotización es insert-only durante la vigencia. El TTL documentado es de 15 minutos.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2834640"/>
            <a:ext cx="566928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169164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1691640"/>
            <a:ext cx="82296" cy="228600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185623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3 · CONFIRMAR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404872"/>
            <a:ext cx="3044952" cy="1444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223140"/>
                </a:solidFill>
                <a:latin typeface="Aptos"/>
              </a:defRPr>
            </a:pPr>
            <a:r>
              <a:t>La orden guarda `quote_id`. Los importes se leen de la cotización original.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66344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70001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Trade-off: un precio erróneo queda respetado hasta expirar; el ADR menciona revocación como riesgo/mitigación, no como capacidad implementada.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Confirmación ACID y HTTP 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 garantía central es: si devolvemos 201, el pedido ya está persistido y consultable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2606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572768"/>
            <a:ext cx="82296" cy="242316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37360"/>
            <a:ext cx="22219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ATOMICIDAD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86000"/>
            <a:ext cx="22219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Pedido + crédito + idempotencia + outbox confirman o revierten juntos.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572768"/>
            <a:ext cx="2606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572768"/>
            <a:ext cx="82296" cy="242316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1737360"/>
            <a:ext cx="22219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CONSISTENCIA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286000"/>
            <a:ext cx="22219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Constraints y reglas mantienen invariantes del dominio.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572768"/>
            <a:ext cx="2606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572768"/>
            <a:ext cx="82296" cy="242316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1737360"/>
            <a:ext cx="22219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AISLAMIENTO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286000"/>
            <a:ext cx="22219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READ COMMITTED con bloqueos de fila explícitos.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572768"/>
            <a:ext cx="26060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572768"/>
            <a:ext cx="82296" cy="242316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1737360"/>
            <a:ext cx="222199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DURABILIDAD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286000"/>
            <a:ext cx="2221992" cy="1581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COMMIT antes de responder; consulta inmediata desde historial.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34840"/>
            <a:ext cx="104698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0223B"/>
                </a:solidFill>
                <a:latin typeface="Aptos"/>
              </a:defRPr>
            </a:pPr>
            <a:r>
              <a:t>Orden de bloqueo documentado: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10912"/>
            <a:ext cx="2971800" cy="658368"/>
          </a:xfrm>
          <a:prstGeom prst="round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663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1 · Idempotency key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22776" y="5340096"/>
            <a:ext cx="48463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80560" y="5010912"/>
            <a:ext cx="2971800" cy="658368"/>
          </a:xfrm>
          <a:prstGeom prst="round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1663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2 · Quote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88936" y="5340096"/>
            <a:ext cx="484632" cy="0"/>
          </a:xfrm>
          <a:prstGeom prst="line">
            <a:avLst/>
          </a:prstGeom>
          <a:ln w="2540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046720" y="5010912"/>
            <a:ext cx="2971800" cy="65836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516636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 i="0">
                <a:solidFill>
                  <a:srgbClr val="FFFFFF"/>
                </a:solidFill>
                <a:latin typeface="Aptos"/>
              </a:defRPr>
            </a:pPr>
            <a:r>
              <a:t>3 · Credit account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Idempotencia: qué ocurre con un reintento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 clave representa una intención de confirmar; el hash evita reutilización ambigua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19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9664"/>
                <a:gridCol w="6803136"/>
              </a:tblGrid>
              <a:tr h="991209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Petición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Comportamiento documentado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99120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Misma clave + mismo hash, ya completado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Reproducir la respuesta guardada; `Idempotent-Replayed: true`.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99120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Misma clave + cuerpo diferente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422 · `IDEMPOTENCY_KEY_REUSED`.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991209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Misma clave aún en proceso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Esperar el lock hasta el límite; luego 409 · `IDEMPOTENCY_KEY_IN_PROGRESS`.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9912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Fallo funcional antes del commit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 guardar el fallo como éxito; corregir y reintentar según el contrato.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76072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7972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El cliente web debe conservar la misma clave al reintentar y usar una nueva para una intención nueva.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Crédito y concurrencia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Evitar la carrera en la que dos pedidos leen el mismo saldo y ambos lo consumen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41732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417320"/>
            <a:ext cx="82296" cy="109728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581912"/>
            <a:ext cx="23591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PEDIDO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130552"/>
            <a:ext cx="2359152" cy="2560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Solicita confirmar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26080"/>
            <a:ext cx="2743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926080"/>
            <a:ext cx="82296" cy="109728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090672"/>
            <a:ext cx="23591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PEDIDO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639312"/>
            <a:ext cx="2359152" cy="2560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23140"/>
                </a:solidFill>
                <a:latin typeface="Aptos"/>
              </a:defRPr>
            </a:pPr>
            <a:r>
              <a:t>Solicita confirmar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14884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2148840"/>
            <a:ext cx="82296" cy="128016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53128" y="2313432"/>
            <a:ext cx="23591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LOCK CUENTA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862072"/>
            <a:ext cx="2359152" cy="4389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FOR UPDATE</a:t>
            </a:r>
          </a:p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un escritor por vez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148840"/>
            <a:ext cx="31546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2148840"/>
            <a:ext cx="82296" cy="128016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313432"/>
            <a:ext cx="277063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50" b="1" i="0">
                <a:solidFill>
                  <a:srgbClr val="10223B"/>
                </a:solidFill>
                <a:latin typeface="Aptos"/>
              </a:defRPr>
            </a:pPr>
            <a:r>
              <a:t>VALIDAR Y CONSUMIR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8" y="2862072"/>
            <a:ext cx="2770632" cy="4389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Comprobar saldo dentro de la transacción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1880" y="1965960"/>
            <a:ext cx="594360" cy="502920"/>
          </a:xfrm>
          <a:prstGeom prst="line">
            <a:avLst/>
          </a:prstGeom>
          <a:ln w="2286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611880" y="3108960"/>
            <a:ext cx="594360" cy="365760"/>
          </a:xfrm>
          <a:prstGeom prst="line">
            <a:avLst/>
          </a:prstGeom>
          <a:ln w="22860">
            <a:solidFill>
              <a:srgbClr val="346B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40880" y="2788920"/>
            <a:ext cx="685799" cy="0"/>
          </a:xfrm>
          <a:prstGeom prst="line">
            <a:avLst/>
          </a:prstGeom>
          <a:ln w="22860">
            <a:solidFill>
              <a:srgbClr val="E8B0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0080" y="4892040"/>
            <a:ext cx="10927080" cy="384048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92861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B44242"/>
                </a:solidFill>
                <a:latin typeface="Aptos"/>
              </a:defRPr>
            </a:pPr>
            <a:r>
              <a:t>Caso de prueba clave: dos confirmaciones concurrentes que juntas superan el cupo no pueden ser ambas aceptadas.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Transactional Outbox: flujo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registro del evento es local/atómico; la entrega ocurre fuera de la transacción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9" name="Oval 8"/>
          <p:cNvSpPr/>
          <p:nvPr/>
        </p:nvSpPr>
        <p:spPr>
          <a:xfrm>
            <a:off x="1417319" y="1737360"/>
            <a:ext cx="411480" cy="41148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59152"/>
            <a:ext cx="82296" cy="2029968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CONFIRMACIÓN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Pedido + crédito + clave + outbox en el mismo commit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24328" y="3310128"/>
            <a:ext cx="265176" cy="0"/>
          </a:xfrm>
          <a:prstGeom prst="line">
            <a:avLst/>
          </a:prstGeom>
          <a:ln w="2159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703320" y="1737360"/>
            <a:ext cx="411480" cy="411480"/>
          </a:xfrm>
          <a:prstGeom prst="ellipse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2359152"/>
            <a:ext cx="82296" cy="2029968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RECLAMAR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Relay obtiene lease / SKIP LOCKED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10328" y="3310128"/>
            <a:ext cx="265176" cy="0"/>
          </a:xfrm>
          <a:prstGeom prst="line">
            <a:avLst/>
          </a:prstGeom>
          <a:ln w="2159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989320" y="1737360"/>
            <a:ext cx="411480" cy="411480"/>
          </a:xfrm>
          <a:prstGeom prst="ellipse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12080" y="2359152"/>
            <a:ext cx="82296" cy="2029968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ENVIAR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Llamada remota fuera de transacción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96328" y="3310128"/>
            <a:ext cx="265176" cy="0"/>
          </a:xfrm>
          <a:prstGeom prst="line">
            <a:avLst/>
          </a:prstGeom>
          <a:ln w="2159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275319" y="1737360"/>
            <a:ext cx="411480" cy="411480"/>
          </a:xfrm>
          <a:prstGeom prst="ellipse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19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2359152"/>
            <a:ext cx="82296" cy="2029968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MARCAR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SENT o reintento / estado terminal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482328" y="3310128"/>
            <a:ext cx="265176" cy="0"/>
          </a:xfrm>
          <a:prstGeom prst="line">
            <a:avLst/>
          </a:prstGeom>
          <a:ln w="21590">
            <a:solidFill>
              <a:srgbClr val="008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0561319" y="1737360"/>
            <a:ext cx="411480" cy="411480"/>
          </a:xfrm>
          <a:prstGeom prst="ellipse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61319" y="1746504"/>
            <a:ext cx="4114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2359152"/>
            <a:ext cx="1965960" cy="2029968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84080" y="2359152"/>
            <a:ext cx="82296" cy="2029968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8" y="2523744"/>
            <a:ext cx="158191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0223B"/>
                </a:solidFill>
                <a:latin typeface="Aptos"/>
              </a:defRPr>
            </a:pPr>
            <a:r>
              <a:t>DEDUPLICAR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8" y="3072384"/>
            <a:ext cx="1581912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223140"/>
                </a:solidFill>
                <a:latin typeface="Aptos"/>
              </a:defRPr>
            </a:pPr>
            <a:r>
              <a:t>Receptor usa event_id / order_number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07492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1114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El Outbox protege contra pérdida de la intención. Su entrega es al menos una vez, no exactamente una vez.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Outbox: fallos y recuperación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 deduplicación del receptor resuelve el reenvío inevitable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799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576"/>
                <a:gridCol w="6364223"/>
              </a:tblGrid>
              <a:tr h="708006">
                <a:tc>
                  <a:txBody>
                    <a:bodyPr/>
                    <a:lstStyle/>
                    <a:p>
                      <a:pPr>
                        <a:defRPr sz="12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Punto de fallo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Resultado correcto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API falla antes del commit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 quedan pedido/evento confirmados.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Commit, pero la API cae antes de responder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El reintento con la misma clave recupera la respuesta persistida.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Push/ERP está indisponible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El evento permanece pendiente y se reintenta.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Relay envía y cae antes de marcar SENT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Puede reenviar; el receptor deduplica por `event_id`.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Lease expira y worker viejo reaparece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 puede sobrescribir el estado del nuevo propietario del lease.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Se agotan los reintentos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2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Estado terminal/dead permite observación y gestión operativa.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Multi-tenancy: tienda ≠ tenant ≠ carrito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“Tienda” en la interfaz corresponde al tendero/cliente B2B dentro de un tenant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82296" cy="256032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8191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TENANT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30552"/>
            <a:ext cx="3044952" cy="1719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País / marca; contiene catálogo, tasas, moneda y políticas.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Ejemplos documentados: `co-alpha`, `ec-alpha`, `gt-alpha`, `pe-alpha`.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17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82296" cy="256032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8191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30552"/>
            <a:ext cx="3044952" cy="1719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Tendero asociado a un tenant.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El ID debe existir dentro del tenant indicado en la petición.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17320"/>
            <a:ext cx="3429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17320"/>
            <a:ext cx="82296" cy="256032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58191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10223B"/>
                </a:solidFill>
                <a:latin typeface="Aptos"/>
              </a:defRPr>
            </a:pPr>
            <a:r>
              <a:t>CARRITO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30552"/>
            <a:ext cx="3044952" cy="1719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Estado temporal del navegador separado por identificador de tienda.</a:t>
            </a: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 i="0">
                <a:solidFill>
                  <a:srgbClr val="223140"/>
                </a:solidFill>
                <a:latin typeface="Aptos"/>
              </a:defRPr>
            </a:pPr>
            <a:r>
              <a:t>Cambiar de tienda puede mostrar un carrito vacío.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65429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Las cabeceras X-Tenant-Id y X-Customer-Id son contexto de petición, no un sustituto de autenticación real.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Si el catálogo aparece vacío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Diagnosticar datos y contexto antes de modificar las protecciones multi-tenant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0752"/>
                <a:gridCol w="7242048"/>
              </a:tblGrid>
              <a:tr h="826008"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Señal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Comprobación inicial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400 `TENANT_NOT_FOUND`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Revisar `X-Tenant-Id`, tenant de BD y migraciones.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404 `CUSTOMER_NOT_FOUND`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Comparar el UUID de `X-Customer-Id`, `stores.json` y `customers` para ese tenant.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200 con `items: []`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Verificar productos semilla y filtro del tenant.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Catálogo con productos, carrito en cero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Comportamiento posible si LocalStorage separa carritos por tienda.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API devuelve productos, UI vacía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1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Inspeccionar respuesta JSON, consola y renderizado Angular.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806440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84301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T-19 actualiza nombres/configuración de tiendas; T-20 agrega Guatemala y Perú. Revisar migraciones y seeds del entorno real.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API REST: endpoints para seguir el flujo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Contrato común bajo `/api/v1` y errores estructurados con RFC 9457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798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3072384"/>
                <a:gridCol w="4059935"/>
              </a:tblGrid>
              <a:tr h="708006"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Endpoint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Función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Detalle que defender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POST /quotes (E-01)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Crear cotización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Devuelve desglose, moneda, crédito y vencimiento.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GET /quotes/{quoteId} (E-02)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Leer cotización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Estado OPEN / CONFIRMED / EXPIRED.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POST /orders (E-03)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Confirmar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Idempotency-Key; 201 tras commit.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GET /orders/{orderId} (E-04)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Consultar pedido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Importes asociados a la cotización.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GET /orders?customerId=… (E-05)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Historial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Pedidos del tendero; respetar tenant.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GET /actuator/health / GET /products (E-06/E-07)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Salud y catálogo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07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E-07 requiere cabeceras tenant y customer.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Frontend Angular: prevenir defectos a nivel de componente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El requisito opcional remarca tres riesgos visuales concretos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799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2656"/>
                <a:gridCol w="4718304"/>
                <a:gridCol w="3291839"/>
              </a:tblGrid>
              <a:tr h="1239012"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Defecto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Prevención de componente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Validación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Texto cortado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`overflow-wrap: anywhere`; `min-width: 0`; no truncar de forma accidental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Probar nombres largos en 768 px y 375 px.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Control oculto por teclado/barra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`env(safe-area-inset-*)`, `100dvh`, scroll y foco visible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Abrir teclado y alcanzar el último control.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1239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Imágenes desiguales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Componente `ui-product-image`, `aspect-ratio` y `object-fit` compartidos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Grid con fotos panorámicas, cuadradas y verticales.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71500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75157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Las medidas de layout deben probarse en Chromium/Playwright; JSDOM no calcula layout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Los seis Golden Tests del enunciado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Mínimo de aceptación para demostrar las reglas principales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4630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" y="1463040"/>
            <a:ext cx="82296" cy="16002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276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GT-01 · Descuento en dos tramos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762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Cálculo marginal + redondeo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4630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43983" y="1463040"/>
            <a:ext cx="82296" cy="160020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1" y="16276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GT-02 · Combo sin descuentos sueltos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21762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No hay double dipping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3" y="14630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1463040"/>
            <a:ext cx="82296" cy="160020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6276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GT-03 · Obsequio con cantidad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1762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Desglose auditable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" y="3520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4944" y="3520440"/>
            <a:ext cx="82296" cy="1600200"/>
          </a:xfrm>
          <a:prstGeom prst="rect">
            <a:avLst/>
          </a:prstGeom>
          <a:solidFill>
            <a:srgbClr val="2C895E"/>
          </a:solidFill>
          <a:ln>
            <a:solidFill>
              <a:srgbClr val="2C8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6850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GT-04 · Combo con impuestos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2336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Impuesto entra en el total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3983" y="3520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3983" y="3520440"/>
            <a:ext cx="82296" cy="1600200"/>
          </a:xfrm>
          <a:prstGeom prst="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1" y="36850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GT-05 · Crédito excedido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1" y="42336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Rechazo sin consumo parcial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3" y="352044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93023" y="3520440"/>
            <a:ext cx="82296" cy="16002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3685032"/>
            <a:ext cx="309067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40" b="1" i="0">
                <a:solidFill>
                  <a:srgbClr val="10223B"/>
                </a:solidFill>
                <a:latin typeface="Aptos"/>
              </a:defRPr>
            </a:pPr>
            <a:r>
              <a:t>GT-06 · Cotizar / cambiar precio / confirmar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233672"/>
            <a:ext cx="3090672" cy="7589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70" b="0" i="0">
                <a:solidFill>
                  <a:srgbClr val="223140"/>
                </a:solidFill>
                <a:latin typeface="Aptos"/>
              </a:defRPr>
            </a:pPr>
            <a:r>
              <a:t>Total idéntico al cotizado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833872"/>
            <a:ext cx="10927080" cy="384048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870448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Ampliaciones recomendadas: concurrencia, claves incompatibles, crash del relay, lease vencido y lectura inmediata.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Calidad registrada en 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Cifras documentadas del estado del proyecto; no reejecutadas en esta preparación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901952"/>
            <a:ext cx="2286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2800" b="1" i="0">
                <a:solidFill>
                  <a:srgbClr val="008E91"/>
                </a:solidFill>
                <a:latin typeface="Aptos"/>
              </a:defRPr>
            </a:pPr>
            <a:r>
              <a:t>333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004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tests unitarios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6459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1901952"/>
            <a:ext cx="2286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2800" b="1" i="0">
                <a:solidFill>
                  <a:srgbClr val="346BA9"/>
                </a:solidFill>
                <a:latin typeface="Aptos"/>
              </a:defRPr>
            </a:pPr>
            <a:r>
              <a:t>308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67004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tests de integración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901952"/>
            <a:ext cx="2286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2800" b="1" i="0">
                <a:solidFill>
                  <a:srgbClr val="E8B03F"/>
                </a:solidFill>
                <a:latin typeface="Aptos"/>
              </a:defRPr>
            </a:pPr>
            <a:r>
              <a:t>209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7004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pruebas web / Chromium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645920"/>
            <a:ext cx="2514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8" y="1901952"/>
            <a:ext cx="228600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2800" b="1" i="0">
                <a:solidFill>
                  <a:srgbClr val="2C895E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670048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0223B"/>
                </a:solidFill>
                <a:latin typeface="Aptos"/>
              </a:defRPr>
            </a:pPr>
            <a:r>
              <a:t>mutaciones PIT detectadas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1028700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400" b="0" i="0">
                <a:solidFill>
                  <a:srgbClr val="223140"/>
                </a:solidFill>
                <a:latin typeface="Aptos"/>
              </a:defRPr>
            </a:pPr>
            <a:r>
              <a:t>JaCoCo registrado: 100 % de líneas y ramas en el dominio de precios; 99,2 % de líneas y 98,0 % de ramas en el servicio completo.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66360"/>
            <a:ext cx="10927080" cy="384048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520293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B44242"/>
                </a:solidFill>
                <a:latin typeface="Aptos"/>
              </a:defRPr>
            </a:pPr>
            <a:r>
              <a:t>Citar estas métricas como resultados del HANDOFF y asociarlas al commit/fecha antes de afirmar que siguen vigentes.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Tecnologías por responsabilidad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No es una lista de marcas: cada elección responde a una necesidad del diseño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7900416"/>
              </a:tblGrid>
              <a:tr h="70800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Responsabilidad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Stack documentado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Backend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Java 21 · Spring Boot 3.x · Spring JdbcClient · Maven Wrapper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Persistencia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PostgreSQL 17 · Liquibase · SQL explícito · UUIDv7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Frontend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Angular 22 · TypeScript · ngx-translate · Intl.NumberFormat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Pruebas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JUnit 5 · AssertJ · Testcontainers · ArchUnit · JaCoCo · PIT · Vitest · Playwright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7080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Infraestructura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Docker · Docker Compose · Nginx reverse proxy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708012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Herramientas / docs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Node.js 24 · Python 3.11 · Markdown/YAML/JSON · SVG · LibreOffice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Decisiones y trade-offs del ADR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Defender la razón, el coste y lo que se dejó fuera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730752"/>
                <a:gridCol w="4498848"/>
              </a:tblGrid>
              <a:tr h="8260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Beneficio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Coste / riesgo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Cotización sellada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Total estable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Precio erróneo se respeta hasta expirar salvo revocación disponible.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BigDecimal y política por país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Precisión monetaria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Más disciplina y configuración explícita.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JdbcClient, sin ORM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Control preciso de locks / SQL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Más mapeo manual y consultas explícitas.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Monolito modular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Una transacción local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Contención en filas/cuentas de crédito activas.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826008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Outbox at-least-once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No perder intención local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1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Requiere deduplicación y operación de reintentos.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897880"/>
            <a:ext cx="10927080" cy="384048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934456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050" b="1" i="0">
                <a:solidFill>
                  <a:srgbClr val="10223B"/>
                </a:solidFill>
                <a:latin typeface="Aptos"/>
              </a:defRPr>
            </a:pPr>
            <a:r>
              <a:t>Fuera de alcance según la documentación: autenticación real, pagos, cancelación, revocación operativa y app móvil nativa.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Posibles trampas de una revisión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Las que más directamente rompen las invariantes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426464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1325880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Recalcular el precio al confirmar o actualizar una cotización sellada.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47672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5" y="1847088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Responder 201 antes del commit o no comprobar la lectura inmediata del pedido.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468879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5" y="2368296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Usar float/double, redondear en el punto incorrecto o hardcodear monedas/tasas.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990088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5" y="2889504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Aplicar escala a unidades de combo o duplicar el descuento visible.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511295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3410711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Generar nueva Idempotency-Key para cada reintento o aceptar una clave con cuerpo distinto.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32504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3931920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Validar crédito fuera de la transacción; no probar confirmaciones concurrentes.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553712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5" y="4453128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Hacer HTTP remoto dentro de la transacción o afirmar que Outbox entrega exactly-once.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074920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5" y="4974336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“Arreglar” un catálogo vacío desactivando el aislamiento multi-tenant.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596128"/>
            <a:ext cx="109728" cy="109728"/>
          </a:xfrm>
          <a:prstGeom prst="roundRect">
            <a:avLst/>
          </a:prstGeom>
          <a:solidFill>
            <a:srgbClr val="B44242"/>
          </a:solidFill>
          <a:ln>
            <a:solidFill>
              <a:srgbClr val="B4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5" y="5495544"/>
            <a:ext cx="10533888" cy="502919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550" b="0" i="0">
                <a:solidFill>
                  <a:srgbClr val="223140"/>
                </a:solidFill>
                <a:latin typeface="Aptos"/>
              </a:defRPr>
            </a:pPr>
            <a:r>
              <a:t>Presentar una cifra del HANDOFF como una prueba ejecutada en la estación actual.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Guion de exposición en 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Una ruta que cuenta la historia técnica sin saltar entre conceptos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53312"/>
          <a:ext cx="1097280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376"/>
                <a:gridCol w="2962656"/>
                <a:gridCol w="6144768"/>
              </a:tblGrid>
              <a:tr h="61950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Tiempo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Sección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Idea que debe quedar</a:t>
                      </a:r>
                    </a:p>
                  </a:txBody>
                  <a:tcPr marL="91440" marR="73152" marT="45720" marB="32004">
                    <a:solidFill>
                      <a:srgbClr val="10223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00–02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Problema de negocio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Precio cambiante, 201 fantasma, eventos perdidos.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02–04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Arquitectura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Monolito modular, hexagonal y dominio puro.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04–07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Pricing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Orden de palancas, BigDecimal, cotización sellada.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07–10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Confirmación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ACID, idempotencia, crédito y 201 post-commit.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10–12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Outbox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At-least-once, lease y deduplicación.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12–14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Multi-tenancy y calidad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Diagnóstico de catálogo + pruebas documentadas.</a:t>
                      </a:r>
                    </a:p>
                  </a:txBody>
                  <a:tcPr marL="91440" marR="73152" marT="36576" marB="22860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14–15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Cierre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  <a:defRPr sz="125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Trade-offs, límites del alcance y evidencias.</a:t>
                      </a:r>
                    </a:p>
                  </a:txBody>
                  <a:tcPr marL="91440" marR="73152" marT="36576" marB="22860">
                    <a:solidFill>
                      <a:srgbClr val="EB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008E9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10223B"/>
                </a:solidFill>
                <a:latin typeface="Aptos"/>
              </a:defRPr>
            </a:pPr>
            <a:r>
              <a:t>Preguntas que conviene ensayar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008E91"/>
                </a:solidFill>
                <a:latin typeface="Aptos"/>
              </a:defRPr>
            </a:pPr>
            <a:r>
              <a:t>Responder siempre en tres pasos: garantía → mecanismo → prueba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563624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463040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¿Por qué el pedido referencia una cotización y no vuelve a calcular el precio?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86000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185416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¿Qué garantiza Outbox y por qué el consumidor también debe deduplicar?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08376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907792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¿Qué impide que dos pedidos concurrentes excedan el mismo cupo?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30752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630168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¿Qué diferencia hay entre tenant, customer, tienda del selector y carrito?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53128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52544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¿Cómo se demuestra que un 201 ya es durable y consultable?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175504"/>
            <a:ext cx="109728" cy="109728"/>
          </a:xfrm>
          <a:prstGeom prst="round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5074920"/>
            <a:ext cx="10351008" cy="704088"/>
          </a:xfrm>
          <a:prstGeom prst="rect">
            <a:avLst/>
          </a:prstGeom>
          <a:noFill/>
        </p:spPr>
        <p:txBody>
          <a:bodyPr wrap="square" lIns="22860" rIns="22860" tIns="22860" bIns="22860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223140"/>
                </a:solidFill>
                <a:latin typeface="Aptos"/>
              </a:defRPr>
            </a:pPr>
            <a:r>
              <a:t>¿Qué resultados están registrados en HANDOFF y cuáles verificaste tú directamente?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46888"/>
            <a:ext cx="5029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56BCC6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01168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2600" b="1" i="0">
                <a:solidFill>
                  <a:srgbClr val="FFFFFF"/>
                </a:solidFill>
                <a:latin typeface="Aptos"/>
              </a:defRPr>
            </a:pPr>
            <a:r>
              <a:t>Tres invariantes que debes recordar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758952"/>
            <a:ext cx="10607040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56BCC6"/>
                </a:solidFill>
                <a:latin typeface="Aptos"/>
              </a:defRPr>
            </a:pPr>
            <a:r>
              <a:t>Y una regla para defender cada decisión técnica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Sitio público + documentación/API/infra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3063240"/>
          </a:xfrm>
          <a:prstGeom prst="roundRect">
            <a:avLst/>
          </a:prstGeom>
          <a:solidFill>
            <a:srgbClr val="183150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82296" cy="30632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62763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G-1 · PRECIO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3044952" cy="2221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7E4EF"/>
                </a:solidFill>
                <a:latin typeface="Aptos"/>
              </a:defRPr>
            </a:pPr>
            <a:r>
              <a:t>Cotización sellada como fuente única de importes.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429000" cy="3063240"/>
          </a:xfrm>
          <a:prstGeom prst="roundRect">
            <a:avLst/>
          </a:prstGeom>
          <a:solidFill>
            <a:srgbClr val="183150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63040"/>
            <a:ext cx="82296" cy="306324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62763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G-3 / I-201 · PEDIDO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176272"/>
            <a:ext cx="3044952" cy="2221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7E4EF"/>
                </a:solidFill>
                <a:latin typeface="Aptos"/>
              </a:defRPr>
            </a:pPr>
            <a:r>
              <a:t>Pedido + crédito + idempotencia + Outbox se confirman juntos. 201 después del commit.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429000" cy="3063240"/>
          </a:xfrm>
          <a:prstGeom prst="roundRect">
            <a:avLst/>
          </a:prstGeom>
          <a:solidFill>
            <a:srgbClr val="183150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82296" cy="306324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627632"/>
            <a:ext cx="3044952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FFFFFF"/>
                </a:solidFill>
                <a:latin typeface="Aptos"/>
              </a:defRPr>
            </a:pPr>
            <a:r>
              <a:t>G-4 · EVENTOS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76272"/>
            <a:ext cx="3044952" cy="2221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D7E4EF"/>
                </a:solidFill>
                <a:latin typeface="Aptos"/>
              </a:defRPr>
            </a:pPr>
            <a:r>
              <a:t>Registro atómico, entrega al menos una vez y deduplicación en el receptor.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700" b="1" i="0">
                <a:solidFill>
                  <a:srgbClr val="FFFFFF"/>
                </a:solidFill>
                <a:latin typeface="Aptos"/>
              </a:defRPr>
            </a:pPr>
            <a:r>
              <a:t>Para cada decisión: ¿qué garantía buscamos?, ¿qué mecanismo la protege?, ¿qué prueba lo demuestra?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83096"/>
            <a:ext cx="11064240" cy="0"/>
          </a:xfrm>
          <a:prstGeom prst="line">
            <a:avLst/>
          </a:prstGeom>
          <a:ln w="762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3504" y="651967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 i="0">
                <a:solidFill>
                  <a:srgbClr val="5D6D7C"/>
                </a:solidFill>
                <a:latin typeface="Aptos"/>
              </a:defRPr>
            </a:pPr>
            <a:r>
              <a:t>Orderflow Engine · fin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 i="0">
                <a:solidFill>
                  <a:srgbClr val="008E91"/>
                </a:solidFill>
                <a:latin typeface="Apto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6400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008E91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51560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23B"/>
                </a:solidFill>
                <a:latin typeface="Aptos"/>
              </a:defRPr>
            </a:pPr>
            <a:r>
              <a:t>La página pública como punto de entrada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740664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008E91"/>
                </a:solidFill>
                <a:latin typeface="Aptos"/>
              </a:defRPr>
            </a:pPr>
            <a:r>
              <a:t>La landing resume el proyecto y conecta la explicación con sus repositorios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83096"/>
            <a:ext cx="11018520" cy="9144"/>
          </a:xfrm>
          <a:prstGeom prst="rect">
            <a:avLst/>
          </a:prstGeom>
          <a:solidFill>
            <a:srgbClr val="DAE3EA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1967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D6D7C"/>
                </a:solidFill>
                <a:latin typeface="Aptos"/>
              </a:defRPr>
            </a:pPr>
            <a:r>
              <a:t>Sitio público + README 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>
                <a:solidFill>
                  <a:srgbClr val="008E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349300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72768"/>
            <a:ext cx="31272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0223B"/>
                </a:solidFill>
                <a:latin typeface="Aptos"/>
              </a:defRPr>
            </a:pPr>
            <a:r>
              <a:t>PRESENTACIÓN BILINGÜE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075688"/>
            <a:ext cx="3127248" cy="2798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23140"/>
                </a:solidFill>
                <a:latin typeface="Aptos"/>
              </a:defRPr>
            </a:pPr>
            <a:r>
              <a:t>El selector ES / EN permite cambiar el idioma de la página. Los contratos API y mensajes de error tienen sus propias reglas.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49300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73152" cy="356616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572768"/>
            <a:ext cx="31272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0223B"/>
                </a:solidFill>
                <a:latin typeface="Aptos"/>
              </a:defRPr>
            </a:pPr>
            <a:r>
              <a:t>EJEMPLO DE CONFIRMACIÓN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075688"/>
            <a:ext cx="3127248" cy="2798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23140"/>
                </a:solidFill>
                <a:latin typeface="Aptos"/>
              </a:defRPr>
            </a:pPr>
            <a:r>
              <a:t>Se ve un ejemplo de `POST /api/v1/orders`, respuesta 201 y repetición con `Idempotent-Replayed: true`.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417320"/>
            <a:ext cx="3493008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1417320"/>
            <a:ext cx="73152" cy="356616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572768"/>
            <a:ext cx="312724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0223B"/>
                </a:solidFill>
                <a:latin typeface="Aptos"/>
              </a:defRPr>
            </a:pPr>
            <a:r>
              <a:t>ESTADO DEL PROYECTO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075688"/>
            <a:ext cx="3127248" cy="2798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20" b="0">
                <a:solidFill>
                  <a:srgbClr val="223140"/>
                </a:solidFill>
                <a:latin typeface="Aptos"/>
              </a:defRPr>
            </a:pPr>
            <a:r>
              <a:t>La página muestra hitos de tareas y la matriz de tenants/monedas; úsalo para orientar la exposición.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94960"/>
            <a:ext cx="10927080" cy="365760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426964"/>
            <a:ext cx="1056132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19" b="1">
                <a:solidFill>
                  <a:srgbClr val="B44242"/>
                </a:solidFill>
                <a:latin typeface="Aptos"/>
              </a:defRPr>
            </a:pPr>
            <a:r>
              <a:t>Un bloque de ejemplo ilustra el contrato; no prueba por sí solo una petición real ejecutada en vivo.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6400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008E91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51560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23B"/>
                </a:solidFill>
                <a:latin typeface="Aptos"/>
              </a:defRPr>
            </a:pPr>
            <a:r>
              <a:t>Seis repositorios, responsabilidades separadas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740664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008E91"/>
                </a:solidFill>
                <a:latin typeface="Aptos"/>
              </a:defRPr>
            </a:pPr>
            <a:r>
              <a:t>La infraestructura los reúne para el arranque y la suite completa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83096"/>
            <a:ext cx="11018520" cy="9144"/>
          </a:xfrm>
          <a:prstGeom prst="rect">
            <a:avLst/>
          </a:prstGeom>
          <a:solidFill>
            <a:srgbClr val="DAE3EA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1967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D6D7C"/>
                </a:solidFill>
                <a:latin typeface="Aptos"/>
              </a:defRPr>
            </a:pPr>
            <a:r>
              <a:t>Sitio público + README 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>
                <a:solidFill>
                  <a:srgbClr val="008E91"/>
                </a:solidFill>
                <a:latin typeface="Aptos"/>
              </a:defRPr>
            </a:pPr>
            <a: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89888"/>
          <a:ext cx="1097279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7132320"/>
              </a:tblGrid>
              <a:tr h="705394"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Repositorio</a:t>
                      </a:r>
                    </a:p>
                  </a:txBody>
                  <a:tcPr marL="73152" marR="54864" marT="45720" marB="27432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Responsabilidad</a:t>
                      </a:r>
                    </a:p>
                  </a:txBody>
                  <a:tcPr marL="73152" marR="54864" marT="45720" marB="27432">
                    <a:solidFill>
                      <a:srgbClr val="10223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orderflow-engine-api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Motor de precios, cotizaciones, confirmación, crédito, idempotencia y Outbox.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orderflow-engine-web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Cliente Angular: catálogo, carrito, resumen, confirmación e historial.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orderflow-engine-infra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Docker Compose de stack completo; `test-all`.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orderflow-engine-docs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SPEC, contrato API, modelo de datos, arquitectura, tareas y ADR.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orderflow-engine-tools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Checks y utilidades para documentación e integridad.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orderflow-engine-app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8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Espacio reservado para futura aplicación móvil nativa.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897880"/>
            <a:ext cx="10927080" cy="365760"/>
          </a:xfrm>
          <a:prstGeom prst="roundRect">
            <a:avLst/>
          </a:prstGeom>
          <a:solidFill>
            <a:srgbClr val="E2F4F2"/>
          </a:solidFill>
          <a:ln>
            <a:solidFill>
              <a:srgbClr val="E2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929884"/>
            <a:ext cx="1056132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19" b="1">
                <a:solidFill>
                  <a:srgbClr val="10223B"/>
                </a:solidFill>
                <a:latin typeface="Aptos"/>
              </a:defRPr>
            </a:pPr>
            <a:r>
              <a:t>El README de infraestructura requiere el workspace de los seis repositorios para `test-all`.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6400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008E91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51560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23B"/>
                </a:solidFill>
                <a:latin typeface="Aptos"/>
              </a:defRPr>
            </a:pPr>
            <a:r>
              <a:t>Cómo ejecutar y validar 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740664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008E91"/>
                </a:solidFill>
                <a:latin typeface="Aptos"/>
              </a:defRPr>
            </a:pPr>
            <a:r>
              <a:t>Los comandos dependen de si quieres API sola o el workspace completo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83096"/>
            <a:ext cx="11018520" cy="9144"/>
          </a:xfrm>
          <a:prstGeom prst="rect">
            <a:avLst/>
          </a:prstGeom>
          <a:solidFill>
            <a:srgbClr val="DAE3EA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1967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D6D7C"/>
                </a:solidFill>
                <a:latin typeface="Aptos"/>
              </a:defRPr>
            </a:pPr>
            <a:r>
              <a:t>Sitio público + README 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>
                <a:solidFill>
                  <a:srgbClr val="008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17320"/>
            <a:ext cx="73152" cy="361188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72768"/>
            <a:ext cx="3154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0223B"/>
                </a:solidFill>
                <a:latin typeface="Aptos"/>
              </a:defRPr>
            </a:pPr>
            <a:r>
              <a:t>API POR SEPARADO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075688"/>
            <a:ext cx="3154680" cy="2843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Requisitos: JDK 21 + Docker.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`./mvnw verify`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`docker compose up --build`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Health: `http://localhost:8080/actuator/health`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73152" cy="3611880"/>
          </a:xfrm>
          <a:prstGeom prst="rect">
            <a:avLst/>
          </a:prstGeom>
          <a:solidFill>
            <a:srgbClr val="346BA9"/>
          </a:solidFill>
          <a:ln>
            <a:solidFill>
              <a:srgbClr val="346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572768"/>
            <a:ext cx="3154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0223B"/>
                </a:solidFill>
                <a:latin typeface="Aptos"/>
              </a:defRPr>
            </a:pPr>
            <a:r>
              <a:t>STACK COMPLETO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075688"/>
            <a:ext cx="3154680" cy="2843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Desde `orderflow-engine-infra` y con los repos hermanos al mismo nivel: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`docker compose up --build`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UI: `http://localhost:8081`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41732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417320"/>
            <a:ext cx="73152" cy="3611880"/>
          </a:xfrm>
          <a:prstGeom prst="rect">
            <a:avLst/>
          </a:prstGeom>
          <a:solidFill>
            <a:srgbClr val="E8B03F"/>
          </a:solidFill>
          <a:ln>
            <a:solidFill>
              <a:srgbClr val="E8B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72768"/>
            <a:ext cx="3154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0223B"/>
                </a:solidFill>
                <a:latin typeface="Aptos"/>
              </a:defRPr>
            </a:pPr>
            <a:r>
              <a:t>SUITE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75688"/>
            <a:ext cx="3154680" cy="28437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Bash: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`bash scripts/test-all.sh`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Windows PowerShell 7: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`pwsh -File scripts/test-all.ps1`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140"/>
                </a:solidFill>
                <a:latin typeface="Aptos"/>
              </a:defRPr>
            </a:pPr>
            <a:r>
              <a:t>Requiere los seis repositorios, Docker y JDK 21.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94960"/>
            <a:ext cx="10927080" cy="365760"/>
          </a:xfrm>
          <a:prstGeom prst="roundRect">
            <a:avLst/>
          </a:prstGeom>
          <a:solidFill>
            <a:srgbClr val="FAEBEB"/>
          </a:solidFill>
          <a:ln>
            <a:solidFill>
              <a:srgbClr val="FA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426964"/>
            <a:ext cx="1056132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19" b="1">
                <a:solidFill>
                  <a:srgbClr val="B44242"/>
                </a:solidFill>
                <a:latin typeface="Aptos"/>
              </a:defRPr>
            </a:pPr>
            <a:r>
              <a:t>Cuidado: `docker compose down -v` también borra el volumen de PostgreSQL.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E91"/>
          </a:solidFill>
          <a:ln>
            <a:solidFill>
              <a:srgbClr val="008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6400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008E91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2880"/>
            <a:ext cx="1051560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0223B"/>
                </a:solidFill>
                <a:latin typeface="Aptos"/>
              </a:defRPr>
            </a:pPr>
            <a:r>
              <a:t>Los cuatro tenants que muestra el sitio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2728" y="740664"/>
            <a:ext cx="104241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008E91"/>
                </a:solidFill>
                <a:latin typeface="Aptos"/>
              </a:defRPr>
            </a:pPr>
            <a:r>
              <a:t>La configuración multi-país afecta moneda, escala y datos semilla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83096"/>
            <a:ext cx="11018520" cy="9144"/>
          </a:xfrm>
          <a:prstGeom prst="rect">
            <a:avLst/>
          </a:prstGeom>
          <a:solidFill>
            <a:srgbClr val="DAE3EA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6519672"/>
            <a:ext cx="99669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  <a:defRPr sz="750" b="0">
                <a:solidFill>
                  <a:srgbClr val="5D6D7C"/>
                </a:solidFill>
                <a:latin typeface="Aptos"/>
              </a:defRPr>
            </a:pPr>
            <a:r>
              <a:t>Sitio público + README API/infra consultados · 17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300"/>
              </a:spcAft>
              <a:defRPr sz="850" b="1">
                <a:solidFill>
                  <a:srgbClr val="008E91"/>
                </a:solidFill>
                <a:latin typeface="Aptos"/>
              </a:defRPr>
            </a:pPr>
            <a: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46304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2384"/>
                <a:gridCol w="3511296"/>
                <a:gridCol w="2414016"/>
                <a:gridCol w="1975104"/>
              </a:tblGrid>
              <a:tr h="6126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Tenant</a:t>
                      </a:r>
                    </a:p>
                  </a:txBody>
                  <a:tcPr marL="73152" marR="54864" marT="45720" marB="27432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País</a:t>
                      </a:r>
                    </a:p>
                  </a:txBody>
                  <a:tcPr marL="73152" marR="54864" marT="45720" marB="27432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Moneda</a:t>
                      </a:r>
                    </a:p>
                  </a:txBody>
                  <a:tcPr marL="73152" marR="54864" marT="45720" marB="27432">
                    <a:solidFill>
                      <a:srgbClr val="1022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Escala</a:t>
                      </a:r>
                    </a:p>
                  </a:txBody>
                  <a:tcPr marL="73152" marR="54864" marT="45720" marB="27432">
                    <a:solidFill>
                      <a:srgbClr val="10223B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co-alpha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Colombia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COP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ec-alpha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Ecuador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USD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gt-alpha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Guatemala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GTQ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54864" marT="27432" marB="18288">
                    <a:solidFill>
                      <a:srgbClr val="EBF2F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pe-alpha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Perú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PEN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3140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73152" marR="54864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074920"/>
            <a:ext cx="10927080" cy="365760"/>
          </a:xfrm>
          <a:prstGeom prst="roundRect">
            <a:avLst/>
          </a:prstGeom>
          <a:solidFill>
            <a:srgbClr val="FCF5E2"/>
          </a:solidFill>
          <a:ln>
            <a:solidFill>
              <a:srgbClr val="FCF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106924"/>
            <a:ext cx="10561320" cy="2834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300"/>
              </a:spcAft>
              <a:defRPr sz="1019" b="1">
                <a:solidFill>
                  <a:srgbClr val="10223B"/>
                </a:solidFill>
                <a:latin typeface="Aptos"/>
              </a:defRPr>
            </a:pPr>
            <a:r>
              <a:t>Trampa del catálogo vacío: revisar headers X-Tenant-Id / X-Customer-Id, customer bajo el tenant y seeds/migraciones antes de tocar el aislamiento.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