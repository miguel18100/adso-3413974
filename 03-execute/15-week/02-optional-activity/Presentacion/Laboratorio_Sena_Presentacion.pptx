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822960"/>
            <a:ext cx="457200" cy="457200"/>
          </a:xfrm>
          <a:prstGeom prst="ellipse">
            <a:avLst/>
          </a:prstGeom>
          <a:solidFill>
            <a:srgbClr val="2C3A8F"/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1005840"/>
            <a:ext cx="320040" cy="320040"/>
          </a:xfrm>
          <a:prstGeom prst="ellipse">
            <a:avLst/>
          </a:prstGeom>
          <a:solidFill>
            <a:srgbClr val="2C3A8F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6035040"/>
            <a:ext cx="548640" cy="548640"/>
          </a:xfrm>
          <a:prstGeom prst="ellipse">
            <a:avLst/>
          </a:prstGeom>
          <a:solidFill>
            <a:srgbClr val="2C3A8F"/>
          </a:solidFill>
          <a:ln/>
        </p:spPr>
      </p:sp>
      <p:sp>
        <p:nvSpPr>
          <p:cNvPr id="5" name="Shape 3"/>
          <p:cNvSpPr/>
          <p:nvPr/>
        </p:nvSpPr>
        <p:spPr>
          <a:xfrm>
            <a:off x="1280160" y="6217920"/>
            <a:ext cx="365760" cy="365760"/>
          </a:xfrm>
          <a:prstGeom prst="ellipse">
            <a:avLst/>
          </a:prstGeom>
          <a:solidFill>
            <a:srgbClr val="2C3A8F"/>
          </a:solidFill>
          <a:ln/>
        </p:spPr>
      </p:sp>
      <p:sp>
        <p:nvSpPr>
          <p:cNvPr id="6" name="Shape 4"/>
          <p:cNvSpPr/>
          <p:nvPr/>
        </p:nvSpPr>
        <p:spPr>
          <a:xfrm>
            <a:off x="9052560" y="548640"/>
            <a:ext cx="274320" cy="274320"/>
          </a:xfrm>
          <a:prstGeom prst="ellipse">
            <a:avLst/>
          </a:prstGeom>
          <a:solidFill>
            <a:srgbClr val="2C3A8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SENA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carpetas del repositorio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22960" y="388620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diapositiva por cada sección del proyecto — gobierno, dominio, arquitectura, datos, operación y más.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carpetas documentadas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A4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00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00-governance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 w="15875">
            <a:solidFill>
              <a:srgbClr val="B786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317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B7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PROGRESO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6217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F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SENA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0" y="5486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Gobierno documental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840480" y="141732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comunes para que todos los equipos documenten con el mismo criterio, sin duplicar información ni publicar datos sensibles.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840480" y="26060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PRINCIPAL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0" y="3017520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4023360" y="318211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4023360" y="3182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14" name="Shape 12"/>
          <p:cNvSpPr/>
          <p:nvPr/>
        </p:nvSpPr>
        <p:spPr>
          <a:xfrm>
            <a:off x="4023360" y="318211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4023360" y="3182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308152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documentation-rules.md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336499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naming, estructura y estados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0" y="3877056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19" name="Shape 17"/>
          <p:cNvSpPr/>
          <p:nvPr/>
        </p:nvSpPr>
        <p:spPr>
          <a:xfrm>
            <a:off x="4023360" y="404164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21" name="Shape 19"/>
          <p:cNvSpPr/>
          <p:nvPr/>
        </p:nvSpPr>
        <p:spPr>
          <a:xfrm>
            <a:off x="4023360" y="404164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4023360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394106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git-conventions.md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0" y="422452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ramas, releases y commits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840480" y="4736592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26" name="Shape 24"/>
          <p:cNvSpPr/>
          <p:nvPr/>
        </p:nvSpPr>
        <p:spPr>
          <a:xfrm>
            <a:off x="4023360" y="4901184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Text 25"/>
          <p:cNvSpPr/>
          <p:nvPr/>
        </p:nvSpPr>
        <p:spPr>
          <a:xfrm>
            <a:off x="4023360" y="4901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28" name="Shape 26"/>
          <p:cNvSpPr/>
          <p:nvPr/>
        </p:nvSpPr>
        <p:spPr>
          <a:xfrm>
            <a:off x="4023360" y="4901184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9" name="Text 27"/>
          <p:cNvSpPr/>
          <p:nvPr/>
        </p:nvSpPr>
        <p:spPr>
          <a:xfrm>
            <a:off x="4023360" y="4901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0" y="480060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security-rules.md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0" y="508406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contra fugas de información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840480" y="5596128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33" name="Shape 31"/>
          <p:cNvSpPr/>
          <p:nvPr/>
        </p:nvSpPr>
        <p:spPr>
          <a:xfrm>
            <a:off x="4023360" y="576072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4" name="Text 32"/>
          <p:cNvSpPr/>
          <p:nvPr/>
        </p:nvSpPr>
        <p:spPr>
          <a:xfrm>
            <a:off x="4023360" y="5760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35" name="Shape 33"/>
          <p:cNvSpPr/>
          <p:nvPr/>
        </p:nvSpPr>
        <p:spPr>
          <a:xfrm>
            <a:off x="4023360" y="576072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6" name="Text 34"/>
          <p:cNvSpPr/>
          <p:nvPr/>
        </p:nvSpPr>
        <p:spPr>
          <a:xfrm>
            <a:off x="4023360" y="5760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572000" y="566013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definition-of-ready / definition-of-done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0" y="594360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A4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01-context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317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6217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F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SENA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0" y="5486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840480" y="141732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el problema, el alcance, el contexto institucional y el vocabulario base del proyecto Horarios SENA.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840480" y="26060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PRINCIPAL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0" y="3017520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4023360" y="318211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4023360" y="3182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14" name="Shape 12"/>
          <p:cNvSpPr/>
          <p:nvPr/>
        </p:nvSpPr>
        <p:spPr>
          <a:xfrm>
            <a:off x="4023360" y="318211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4023360" y="3182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308152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overview.md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336499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institucional y objetivos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0" y="3877056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19" name="Shape 17"/>
          <p:cNvSpPr/>
          <p:nvPr/>
        </p:nvSpPr>
        <p:spPr>
          <a:xfrm>
            <a:off x="4023360" y="404164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21" name="Shape 19"/>
          <p:cNvSpPr/>
          <p:nvPr/>
        </p:nvSpPr>
        <p:spPr>
          <a:xfrm>
            <a:off x="4023360" y="404164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4023360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394106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scope.md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0" y="422452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alcance, exclusiones y supuestos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840480" y="4736592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26" name="Shape 24"/>
          <p:cNvSpPr/>
          <p:nvPr/>
        </p:nvSpPr>
        <p:spPr>
          <a:xfrm>
            <a:off x="4023360" y="4901184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Text 25"/>
          <p:cNvSpPr/>
          <p:nvPr/>
        </p:nvSpPr>
        <p:spPr>
          <a:xfrm>
            <a:off x="4023360" y="4901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28" name="Shape 26"/>
          <p:cNvSpPr/>
          <p:nvPr/>
        </p:nvSpPr>
        <p:spPr>
          <a:xfrm>
            <a:off x="4023360" y="4901184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9" name="Text 27"/>
          <p:cNvSpPr/>
          <p:nvPr/>
        </p:nvSpPr>
        <p:spPr>
          <a:xfrm>
            <a:off x="4023360" y="4901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0" y="480060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glossary.md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0" y="508406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glosario compartido del dominio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A4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02-domain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317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6217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F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SENA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0" y="5486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Dominio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840480" y="141732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el modelo de dominio en términos de negocio: entidades, invariantes, reglas y lenguaje ubicuo (no tablas ni esquemas).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840480" y="26060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PRINCIPAL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0" y="3017520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4023360" y="318211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4023360" y="3182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14" name="Shape 12"/>
          <p:cNvSpPr/>
          <p:nvPr/>
        </p:nvSpPr>
        <p:spPr>
          <a:xfrm>
            <a:off x="4023360" y="318211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4023360" y="3182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308152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domain-map.md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336499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dominio y contextos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0" y="3877056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19" name="Shape 17"/>
          <p:cNvSpPr/>
          <p:nvPr/>
        </p:nvSpPr>
        <p:spPr>
          <a:xfrm>
            <a:off x="4023360" y="404164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21" name="Shape 19"/>
          <p:cNvSpPr/>
          <p:nvPr/>
        </p:nvSpPr>
        <p:spPr>
          <a:xfrm>
            <a:off x="4023360" y="404164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4023360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394106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entities-and-rules.md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0" y="422452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y reglas de negocio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840480" y="4736592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26" name="Shape 24"/>
          <p:cNvSpPr/>
          <p:nvPr/>
        </p:nvSpPr>
        <p:spPr>
          <a:xfrm>
            <a:off x="4023360" y="4901184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Text 25"/>
          <p:cNvSpPr/>
          <p:nvPr/>
        </p:nvSpPr>
        <p:spPr>
          <a:xfrm>
            <a:off x="4023360" y="4901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28" name="Shape 26"/>
          <p:cNvSpPr/>
          <p:nvPr/>
        </p:nvSpPr>
        <p:spPr>
          <a:xfrm>
            <a:off x="4023360" y="4901184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9" name="Text 27"/>
          <p:cNvSpPr/>
          <p:nvPr/>
        </p:nvSpPr>
        <p:spPr>
          <a:xfrm>
            <a:off x="4023360" y="4901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0" y="480060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domain-events.md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0" y="508406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relevantes del dominio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A4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03-product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317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6217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F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SENA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0" y="5486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Producto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840480" y="141732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 la intención del producto, su evolución esperada y el backlog funcional de alto nivel.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840480" y="26060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PRINCIPAL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0" y="3017520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4023360" y="318211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4023360" y="3182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14" name="Shape 12"/>
          <p:cNvSpPr/>
          <p:nvPr/>
        </p:nvSpPr>
        <p:spPr>
          <a:xfrm>
            <a:off x="4023360" y="318211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4023360" y="3182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308152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vision.md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336499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y propuesta de valor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0" y="3877056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19" name="Shape 17"/>
          <p:cNvSpPr/>
          <p:nvPr/>
        </p:nvSpPr>
        <p:spPr>
          <a:xfrm>
            <a:off x="4023360" y="404164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21" name="Shape 19"/>
          <p:cNvSpPr/>
          <p:nvPr/>
        </p:nvSpPr>
        <p:spPr>
          <a:xfrm>
            <a:off x="4023360" y="404164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4023360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394106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roadmap.md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0" y="422452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hitos y fases planificadas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840480" y="4736592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26" name="Shape 24"/>
          <p:cNvSpPr/>
          <p:nvPr/>
        </p:nvSpPr>
        <p:spPr>
          <a:xfrm>
            <a:off x="4023360" y="4901184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Text 25"/>
          <p:cNvSpPr/>
          <p:nvPr/>
        </p:nvSpPr>
        <p:spPr>
          <a:xfrm>
            <a:off x="4023360" y="4901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28" name="Shape 26"/>
          <p:cNvSpPr/>
          <p:nvPr/>
        </p:nvSpPr>
        <p:spPr>
          <a:xfrm>
            <a:off x="4023360" y="4901184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9" name="Text 27"/>
          <p:cNvSpPr/>
          <p:nvPr/>
        </p:nvSpPr>
        <p:spPr>
          <a:xfrm>
            <a:off x="4023360" y="4901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0" y="480060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product-backlog.md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0" y="508406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priorizado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A4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04-requirements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317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6217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F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SENA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0" y="5486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840480" y="141732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 los requisitos funcionales y no funcionales, las historias de usuario y la trazabilidad entre ellos.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840480" y="26060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PRINCIPAL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0" y="3017520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4023360" y="318211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4023360" y="3182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14" name="Shape 12"/>
          <p:cNvSpPr/>
          <p:nvPr/>
        </p:nvSpPr>
        <p:spPr>
          <a:xfrm>
            <a:off x="4023360" y="318211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4023360" y="3182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308152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functional.md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336499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funcionales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0" y="3877056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19" name="Shape 17"/>
          <p:cNvSpPr/>
          <p:nvPr/>
        </p:nvSpPr>
        <p:spPr>
          <a:xfrm>
            <a:off x="4023360" y="404164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21" name="Shape 19"/>
          <p:cNvSpPr/>
          <p:nvPr/>
        </p:nvSpPr>
        <p:spPr>
          <a:xfrm>
            <a:off x="4023360" y="404164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4023360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394106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non-functional.md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0" y="422452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calidad, seguridad y rendimiento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840480" y="4736592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26" name="Shape 24"/>
          <p:cNvSpPr/>
          <p:nvPr/>
        </p:nvSpPr>
        <p:spPr>
          <a:xfrm>
            <a:off x="4023360" y="4901184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Text 25"/>
          <p:cNvSpPr/>
          <p:nvPr/>
        </p:nvSpPr>
        <p:spPr>
          <a:xfrm>
            <a:off x="4023360" y="4901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28" name="Shape 26"/>
          <p:cNvSpPr/>
          <p:nvPr/>
        </p:nvSpPr>
        <p:spPr>
          <a:xfrm>
            <a:off x="4023360" y="4901184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9" name="Text 27"/>
          <p:cNvSpPr/>
          <p:nvPr/>
        </p:nvSpPr>
        <p:spPr>
          <a:xfrm>
            <a:off x="4023360" y="4901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0" y="480060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user-stories.md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0" y="508406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y criterios de aceptación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840480" y="5596128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33" name="Shape 31"/>
          <p:cNvSpPr/>
          <p:nvPr/>
        </p:nvSpPr>
        <p:spPr>
          <a:xfrm>
            <a:off x="4023360" y="576072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4" name="Text 32"/>
          <p:cNvSpPr/>
          <p:nvPr/>
        </p:nvSpPr>
        <p:spPr>
          <a:xfrm>
            <a:off x="4023360" y="5760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35" name="Shape 33"/>
          <p:cNvSpPr/>
          <p:nvPr/>
        </p:nvSpPr>
        <p:spPr>
          <a:xfrm>
            <a:off x="4023360" y="576072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6" name="Text 34"/>
          <p:cNvSpPr/>
          <p:nvPr/>
        </p:nvSpPr>
        <p:spPr>
          <a:xfrm>
            <a:off x="4023360" y="5760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572000" y="566013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traceability-matrix.md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0" y="594360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de requisitos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A4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05-architecture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317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6217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F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SENA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0" y="5486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840480" y="141732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la arquitectura del sistema, su despliegue, las decisiones técnicas y los aspectos transversales.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840480" y="26060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PRINCIPAL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0" y="3017520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4023360" y="318211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4023360" y="3182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14" name="Shape 12"/>
          <p:cNvSpPr/>
          <p:nvPr/>
        </p:nvSpPr>
        <p:spPr>
          <a:xfrm>
            <a:off x="4023360" y="318211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4023360" y="3182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308152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overview.md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336499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general de componentes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0" y="3877056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19" name="Shape 17"/>
          <p:cNvSpPr/>
          <p:nvPr/>
        </p:nvSpPr>
        <p:spPr>
          <a:xfrm>
            <a:off x="4023360" y="404164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21" name="Shape 19"/>
          <p:cNvSpPr/>
          <p:nvPr/>
        </p:nvSpPr>
        <p:spPr>
          <a:xfrm>
            <a:off x="4023360" y="404164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4023360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394106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deployment.md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0" y="422452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topología de despliegue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840480" y="4736592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26" name="Shape 24"/>
          <p:cNvSpPr/>
          <p:nvPr/>
        </p:nvSpPr>
        <p:spPr>
          <a:xfrm>
            <a:off x="4023360" y="4901184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Text 25"/>
          <p:cNvSpPr/>
          <p:nvPr/>
        </p:nvSpPr>
        <p:spPr>
          <a:xfrm>
            <a:off x="4023360" y="4901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28" name="Shape 26"/>
          <p:cNvSpPr/>
          <p:nvPr/>
        </p:nvSpPr>
        <p:spPr>
          <a:xfrm>
            <a:off x="4023360" y="4901184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9" name="Text 27"/>
          <p:cNvSpPr/>
          <p:nvPr/>
        </p:nvSpPr>
        <p:spPr>
          <a:xfrm>
            <a:off x="4023360" y="4901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0" y="480060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cross-cutting.md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0" y="508406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seguridad, logging y auditoría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840480" y="5596128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33" name="Shape 31"/>
          <p:cNvSpPr/>
          <p:nvPr/>
        </p:nvSpPr>
        <p:spPr>
          <a:xfrm>
            <a:off x="4023360" y="576072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4" name="Text 32"/>
          <p:cNvSpPr/>
          <p:nvPr/>
        </p:nvSpPr>
        <p:spPr>
          <a:xfrm>
            <a:off x="4023360" y="5760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35" name="Shape 33"/>
          <p:cNvSpPr/>
          <p:nvPr/>
        </p:nvSpPr>
        <p:spPr>
          <a:xfrm>
            <a:off x="4023360" y="576072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6" name="Text 34"/>
          <p:cNvSpPr/>
          <p:nvPr/>
        </p:nvSpPr>
        <p:spPr>
          <a:xfrm>
            <a:off x="4023360" y="5760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572000" y="566013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decisions/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0" y="594360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decisiones (ADR)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A4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06-data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317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6217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F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SENA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0" y="5486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840480" y="141732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 los modelos de datos, el diccionario de entidades y la estrategia de migración a nivel de persistencia.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840480" y="26060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PRINCIPAL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0" y="3017520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4023360" y="318211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4023360" y="3182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14" name="Shape 12"/>
          <p:cNvSpPr/>
          <p:nvPr/>
        </p:nvSpPr>
        <p:spPr>
          <a:xfrm>
            <a:off x="4023360" y="318211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4023360" y="3182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308152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models.md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336499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conceptuales y físicos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0" y="3877056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19" name="Shape 17"/>
          <p:cNvSpPr/>
          <p:nvPr/>
        </p:nvSpPr>
        <p:spPr>
          <a:xfrm>
            <a:off x="4023360" y="404164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21" name="Shape 19"/>
          <p:cNvSpPr/>
          <p:nvPr/>
        </p:nvSpPr>
        <p:spPr>
          <a:xfrm>
            <a:off x="4023360" y="404164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4023360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394106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data-dictionary.md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0" y="422452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diccionario de entidades y campos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840480" y="4736592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26" name="Shape 24"/>
          <p:cNvSpPr/>
          <p:nvPr/>
        </p:nvSpPr>
        <p:spPr>
          <a:xfrm>
            <a:off x="4023360" y="4901184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Text 25"/>
          <p:cNvSpPr/>
          <p:nvPr/>
        </p:nvSpPr>
        <p:spPr>
          <a:xfrm>
            <a:off x="4023360" y="4901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28" name="Shape 26"/>
          <p:cNvSpPr/>
          <p:nvPr/>
        </p:nvSpPr>
        <p:spPr>
          <a:xfrm>
            <a:off x="4023360" y="4901184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9" name="Text 27"/>
          <p:cNvSpPr/>
          <p:nvPr/>
        </p:nvSpPr>
        <p:spPr>
          <a:xfrm>
            <a:off x="4023360" y="4901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0" y="480060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migration-strategy.md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0" y="508406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migraciones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A4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07-api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317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6217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F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SENA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0" y="5486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840480" y="141732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los lineamientos de diseño de API, la estrategia de autenticación y la ubicación de los contratos OpenAPI.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840480" y="26060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PRINCIPAL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0" y="3017520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4023360" y="318211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4023360" y="3182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14" name="Shape 12"/>
          <p:cNvSpPr/>
          <p:nvPr/>
        </p:nvSpPr>
        <p:spPr>
          <a:xfrm>
            <a:off x="4023360" y="318211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4023360" y="3182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308152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guidelines.md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336499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convenciones de diseño de APIs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0" y="3877056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19" name="Shape 17"/>
          <p:cNvSpPr/>
          <p:nvPr/>
        </p:nvSpPr>
        <p:spPr>
          <a:xfrm>
            <a:off x="4023360" y="404164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21" name="Shape 19"/>
          <p:cNvSpPr/>
          <p:nvPr/>
        </p:nvSpPr>
        <p:spPr>
          <a:xfrm>
            <a:off x="4023360" y="404164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4023360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394106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authentication.md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0" y="422452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y autorización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840480" y="4736592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26" name="Shape 24"/>
          <p:cNvSpPr/>
          <p:nvPr/>
        </p:nvSpPr>
        <p:spPr>
          <a:xfrm>
            <a:off x="4023360" y="4901184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Text 25"/>
          <p:cNvSpPr/>
          <p:nvPr/>
        </p:nvSpPr>
        <p:spPr>
          <a:xfrm>
            <a:off x="4023360" y="4901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28" name="Shape 26"/>
          <p:cNvSpPr/>
          <p:nvPr/>
        </p:nvSpPr>
        <p:spPr>
          <a:xfrm>
            <a:off x="4023360" y="4901184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9" name="Text 27"/>
          <p:cNvSpPr/>
          <p:nvPr/>
        </p:nvSpPr>
        <p:spPr>
          <a:xfrm>
            <a:off x="4023360" y="4901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0" y="480060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contracts/openapi/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0" y="508406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validados y publicables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A4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08-uml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317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6217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F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SENA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0" y="5486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UML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840480" y="141732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de diagramas UML y arquitectura visual. Todo diagrama requiere fuente editable y exportación revisable.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840480" y="26060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PRINCIPAL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0" y="3017520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4023360" y="318211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4023360" y="3182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14" name="Shape 12"/>
          <p:cNvSpPr/>
          <p:nvPr/>
        </p:nvSpPr>
        <p:spPr>
          <a:xfrm>
            <a:off x="4023360" y="318211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4023360" y="3182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308152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diagram-index.md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336499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todos los diagramas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0" y="3877056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19" name="Shape 17"/>
          <p:cNvSpPr/>
          <p:nvPr/>
        </p:nvSpPr>
        <p:spPr>
          <a:xfrm>
            <a:off x="4023360" y="404164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21" name="Shape 19"/>
          <p:cNvSpPr/>
          <p:nvPr/>
        </p:nvSpPr>
        <p:spPr>
          <a:xfrm>
            <a:off x="4023360" y="404164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4023360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394106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diagrams/source/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0" y="422452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.wsd / .puml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840480" y="4736592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26" name="Shape 24"/>
          <p:cNvSpPr/>
          <p:nvPr/>
        </p:nvSpPr>
        <p:spPr>
          <a:xfrm>
            <a:off x="4023360" y="4901184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Text 25"/>
          <p:cNvSpPr/>
          <p:nvPr/>
        </p:nvSpPr>
        <p:spPr>
          <a:xfrm>
            <a:off x="4023360" y="4901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28" name="Shape 26"/>
          <p:cNvSpPr/>
          <p:nvPr/>
        </p:nvSpPr>
        <p:spPr>
          <a:xfrm>
            <a:off x="4023360" y="4901184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9" name="Text 27"/>
          <p:cNvSpPr/>
          <p:nvPr/>
        </p:nvSpPr>
        <p:spPr>
          <a:xfrm>
            <a:off x="4023360" y="4901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0" y="480060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diagrams/exports/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0" y="508406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exportaciones .svg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A4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09-microservices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317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6217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F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SENA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0" y="5486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Microservicios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840480" y="141732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 el catálogo de microservicios, los patrones de comunicación y la documentación por servicio.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840480" y="26060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PRINCIPAL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0" y="3017520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4023360" y="318211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4023360" y="3182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14" name="Shape 12"/>
          <p:cNvSpPr/>
          <p:nvPr/>
        </p:nvSpPr>
        <p:spPr>
          <a:xfrm>
            <a:off x="4023360" y="318211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4023360" y="3182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308152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service-catalog.md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336499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de servicios y owners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0" y="3877056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19" name="Shape 17"/>
          <p:cNvSpPr/>
          <p:nvPr/>
        </p:nvSpPr>
        <p:spPr>
          <a:xfrm>
            <a:off x="4023360" y="404164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21" name="Shape 19"/>
          <p:cNvSpPr/>
          <p:nvPr/>
        </p:nvSpPr>
        <p:spPr>
          <a:xfrm>
            <a:off x="4023360" y="404164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4023360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394106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communication-patterns.md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0" y="422452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síncronos y async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840480" y="4736592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26" name="Shape 24"/>
          <p:cNvSpPr/>
          <p:nvPr/>
        </p:nvSpPr>
        <p:spPr>
          <a:xfrm>
            <a:off x="4023360" y="4901184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Text 25"/>
          <p:cNvSpPr/>
          <p:nvPr/>
        </p:nvSpPr>
        <p:spPr>
          <a:xfrm>
            <a:off x="4023360" y="4901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28" name="Shape 26"/>
          <p:cNvSpPr/>
          <p:nvPr/>
        </p:nvSpPr>
        <p:spPr>
          <a:xfrm>
            <a:off x="4023360" y="4901184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9" name="Text 27"/>
          <p:cNvSpPr/>
          <p:nvPr/>
        </p:nvSpPr>
        <p:spPr>
          <a:xfrm>
            <a:off x="4023360" y="4901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0" y="480060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services/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0" y="508406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por microservicio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840480" y="5596128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33" name="Shape 31"/>
          <p:cNvSpPr/>
          <p:nvPr/>
        </p:nvSpPr>
        <p:spPr>
          <a:xfrm>
            <a:off x="4023360" y="576072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4" name="Text 32"/>
          <p:cNvSpPr/>
          <p:nvPr/>
        </p:nvSpPr>
        <p:spPr>
          <a:xfrm>
            <a:off x="4023360" y="5760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35" name="Shape 33"/>
          <p:cNvSpPr/>
          <p:nvPr/>
        </p:nvSpPr>
        <p:spPr>
          <a:xfrm>
            <a:off x="4023360" y="576072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6" name="Text 34"/>
          <p:cNvSpPr/>
          <p:nvPr/>
        </p:nvSpPr>
        <p:spPr>
          <a:xfrm>
            <a:off x="4023360" y="5760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572000" y="566013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_template/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0" y="594360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para nuevos servicios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A4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10-devops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317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6217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F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SENA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0" y="5486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840480" y="141732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 la instalación local del entorno, los pipelines de CI/CD y los ambientes del proyecto.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840480" y="26060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PRINCIPAL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0" y="3017520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4023360" y="318211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4023360" y="3182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14" name="Shape 12"/>
          <p:cNvSpPr/>
          <p:nvPr/>
        </p:nvSpPr>
        <p:spPr>
          <a:xfrm>
            <a:off x="4023360" y="318211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4023360" y="3182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308152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local-setup.md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336499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local de desarrollo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0" y="3877056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19" name="Shape 17"/>
          <p:cNvSpPr/>
          <p:nvPr/>
        </p:nvSpPr>
        <p:spPr>
          <a:xfrm>
            <a:off x="4023360" y="404164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21" name="Shape 19"/>
          <p:cNvSpPr/>
          <p:nvPr/>
        </p:nvSpPr>
        <p:spPr>
          <a:xfrm>
            <a:off x="4023360" y="404164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4023360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394106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ci-cd.md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0" y="422452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y despliegues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840480" y="4736592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26" name="Shape 24"/>
          <p:cNvSpPr/>
          <p:nvPr/>
        </p:nvSpPr>
        <p:spPr>
          <a:xfrm>
            <a:off x="4023360" y="4901184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Text 25"/>
          <p:cNvSpPr/>
          <p:nvPr/>
        </p:nvSpPr>
        <p:spPr>
          <a:xfrm>
            <a:off x="4023360" y="4901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28" name="Shape 26"/>
          <p:cNvSpPr/>
          <p:nvPr/>
        </p:nvSpPr>
        <p:spPr>
          <a:xfrm>
            <a:off x="4023360" y="4901184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9" name="Text 27"/>
          <p:cNvSpPr/>
          <p:nvPr/>
        </p:nvSpPr>
        <p:spPr>
          <a:xfrm>
            <a:off x="4023360" y="4901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0" y="480060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environments.md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0" y="508406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ambientes y reglas de uso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A4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11-quality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317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6217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F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SENA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0" y="5486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Calidad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840480" y="141732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las prácticas de pruebas, la revisión de código y los criterios de calidad del proyecto.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840480" y="26060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PRINCIPAL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0" y="3017520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4023360" y="318211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4023360" y="3182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14" name="Shape 12"/>
          <p:cNvSpPr/>
          <p:nvPr/>
        </p:nvSpPr>
        <p:spPr>
          <a:xfrm>
            <a:off x="4023360" y="318211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4023360" y="3182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308152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testing-strategy.md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336499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pruebas por nivel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0" y="3877056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19" name="Shape 17"/>
          <p:cNvSpPr/>
          <p:nvPr/>
        </p:nvSpPr>
        <p:spPr>
          <a:xfrm>
            <a:off x="4023360" y="404164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21" name="Shape 19"/>
          <p:cNvSpPr/>
          <p:nvPr/>
        </p:nvSpPr>
        <p:spPr>
          <a:xfrm>
            <a:off x="4023360" y="404164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4023360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394106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code-review.md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0" y="422452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y flujo de revisión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A4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12-ux-ui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317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6217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F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SENA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0" y="5486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UX / UI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840480" y="141732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 el sistema de diseño, el mapa de navegación y los wireframes del producto.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840480" y="26060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PRINCIPAL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0" y="3017520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4023360" y="318211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4023360" y="3182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14" name="Shape 12"/>
          <p:cNvSpPr/>
          <p:nvPr/>
        </p:nvSpPr>
        <p:spPr>
          <a:xfrm>
            <a:off x="4023360" y="318211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4023360" y="3182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308152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design-system.md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336499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tokens, componentes y patrones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0" y="3877056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19" name="Shape 17"/>
          <p:cNvSpPr/>
          <p:nvPr/>
        </p:nvSpPr>
        <p:spPr>
          <a:xfrm>
            <a:off x="4023360" y="404164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21" name="Shape 19"/>
          <p:cNvSpPr/>
          <p:nvPr/>
        </p:nvSpPr>
        <p:spPr>
          <a:xfrm>
            <a:off x="4023360" y="404164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4023360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394106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navigation-map.md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0" y="422452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jerarquía de pantallas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840480" y="4736592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26" name="Shape 24"/>
          <p:cNvSpPr/>
          <p:nvPr/>
        </p:nvSpPr>
        <p:spPr>
          <a:xfrm>
            <a:off x="4023360" y="4901184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Text 25"/>
          <p:cNvSpPr/>
          <p:nvPr/>
        </p:nvSpPr>
        <p:spPr>
          <a:xfrm>
            <a:off x="4023360" y="4901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28" name="Shape 26"/>
          <p:cNvSpPr/>
          <p:nvPr/>
        </p:nvSpPr>
        <p:spPr>
          <a:xfrm>
            <a:off x="4023360" y="4901184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9" name="Text 27"/>
          <p:cNvSpPr/>
          <p:nvPr/>
        </p:nvSpPr>
        <p:spPr>
          <a:xfrm>
            <a:off x="4023360" y="4901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0" y="480060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wireframes.md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0" y="508406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 de interacción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A4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13-operations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317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6217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F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SENA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0" y="5486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Operaciones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840480" y="141732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cómo operar, monitorear, responder incidentes y recuperar el sistema en producción.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840480" y="26060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PRINCIPAL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0" y="3017520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4023360" y="318211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4023360" y="3182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14" name="Shape 12"/>
          <p:cNvSpPr/>
          <p:nvPr/>
        </p:nvSpPr>
        <p:spPr>
          <a:xfrm>
            <a:off x="4023360" y="318211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4023360" y="3182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308152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observability.md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336499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métricas, logs, trazas y alertas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0" y="3877056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19" name="Shape 17"/>
          <p:cNvSpPr/>
          <p:nvPr/>
        </p:nvSpPr>
        <p:spPr>
          <a:xfrm>
            <a:off x="4023360" y="404164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21" name="Shape 19"/>
          <p:cNvSpPr/>
          <p:nvPr/>
        </p:nvSpPr>
        <p:spPr>
          <a:xfrm>
            <a:off x="4023360" y="404164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4023360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394106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incident-management.md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0" y="422452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y respuesta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840480" y="4736592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26" name="Shape 24"/>
          <p:cNvSpPr/>
          <p:nvPr/>
        </p:nvSpPr>
        <p:spPr>
          <a:xfrm>
            <a:off x="4023360" y="4901184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Text 25"/>
          <p:cNvSpPr/>
          <p:nvPr/>
        </p:nvSpPr>
        <p:spPr>
          <a:xfrm>
            <a:off x="4023360" y="4901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28" name="Shape 26"/>
          <p:cNvSpPr/>
          <p:nvPr/>
        </p:nvSpPr>
        <p:spPr>
          <a:xfrm>
            <a:off x="4023360" y="4901184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9" name="Text 27"/>
          <p:cNvSpPr/>
          <p:nvPr/>
        </p:nvSpPr>
        <p:spPr>
          <a:xfrm>
            <a:off x="4023360" y="4901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0" y="480060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backup-and-recovery.md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0" y="508406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RPO/RTO y pruebas de recuperación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A4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14-training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317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6217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F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SENA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0" y="5486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Entrenamiento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840480" y="141732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Contiene manuales y material de onboarding para usuarios finales, administradores y equipo técnico.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840480" y="26060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PRINCIPAL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0" y="3017520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4023360" y="318211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4023360" y="3182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14" name="Shape 12"/>
          <p:cNvSpPr/>
          <p:nvPr/>
        </p:nvSpPr>
        <p:spPr>
          <a:xfrm>
            <a:off x="4023360" y="318211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4023360" y="3182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308152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user-manual.md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336499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usuarios finales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0" y="3877056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19" name="Shape 17"/>
          <p:cNvSpPr/>
          <p:nvPr/>
        </p:nvSpPr>
        <p:spPr>
          <a:xfrm>
            <a:off x="4023360" y="404164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21" name="Shape 19"/>
          <p:cNvSpPr/>
          <p:nvPr/>
        </p:nvSpPr>
        <p:spPr>
          <a:xfrm>
            <a:off x="4023360" y="404164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4023360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394106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admin-manual.md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0" y="422452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administración y soporte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840480" y="4736592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26" name="Shape 24"/>
          <p:cNvSpPr/>
          <p:nvPr/>
        </p:nvSpPr>
        <p:spPr>
          <a:xfrm>
            <a:off x="4023360" y="4901184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Text 25"/>
          <p:cNvSpPr/>
          <p:nvPr/>
        </p:nvSpPr>
        <p:spPr>
          <a:xfrm>
            <a:off x="4023360" y="4901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28" name="Shape 26"/>
          <p:cNvSpPr/>
          <p:nvPr/>
        </p:nvSpPr>
        <p:spPr>
          <a:xfrm>
            <a:off x="4023360" y="4901184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9" name="Text 27"/>
          <p:cNvSpPr/>
          <p:nvPr/>
        </p:nvSpPr>
        <p:spPr>
          <a:xfrm>
            <a:off x="4023360" y="4901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0" y="480060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technical-onboarding.md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0" y="508406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entrada técnica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A4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15-project-control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317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6217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F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SENA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0" y="5486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de Proyecto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840480" y="141732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el backlog técnico, los riesgos, las dependencias y las preguntas abiertas del proyecto.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840480" y="26060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PRINCIPAL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0" y="3017520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4023360" y="318211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4023360" y="3182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14" name="Shape 12"/>
          <p:cNvSpPr/>
          <p:nvPr/>
        </p:nvSpPr>
        <p:spPr>
          <a:xfrm>
            <a:off x="4023360" y="318211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4023360" y="3182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308152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technical-backlog.md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336499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deuda técnica documentada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0" y="3877056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19" name="Shape 17"/>
          <p:cNvSpPr/>
          <p:nvPr/>
        </p:nvSpPr>
        <p:spPr>
          <a:xfrm>
            <a:off x="4023360" y="404164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21" name="Shape 19"/>
          <p:cNvSpPr/>
          <p:nvPr/>
        </p:nvSpPr>
        <p:spPr>
          <a:xfrm>
            <a:off x="4023360" y="404164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4023360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394106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risks.md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0" y="422452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riesgos, impacto y mitigación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840480" y="4736592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26" name="Shape 24"/>
          <p:cNvSpPr/>
          <p:nvPr/>
        </p:nvSpPr>
        <p:spPr>
          <a:xfrm>
            <a:off x="4023360" y="4901184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Text 25"/>
          <p:cNvSpPr/>
          <p:nvPr/>
        </p:nvSpPr>
        <p:spPr>
          <a:xfrm>
            <a:off x="4023360" y="4901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28" name="Shape 26"/>
          <p:cNvSpPr/>
          <p:nvPr/>
        </p:nvSpPr>
        <p:spPr>
          <a:xfrm>
            <a:off x="4023360" y="4901184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9" name="Text 27"/>
          <p:cNvSpPr/>
          <p:nvPr/>
        </p:nvSpPr>
        <p:spPr>
          <a:xfrm>
            <a:off x="4023360" y="4901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0" y="480060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dependencies.md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0" y="508406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dependencias internas/externas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840480" y="5596128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33" name="Shape 31"/>
          <p:cNvSpPr/>
          <p:nvPr/>
        </p:nvSpPr>
        <p:spPr>
          <a:xfrm>
            <a:off x="4023360" y="576072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4" name="Text 32"/>
          <p:cNvSpPr/>
          <p:nvPr/>
        </p:nvSpPr>
        <p:spPr>
          <a:xfrm>
            <a:off x="4023360" y="5760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35" name="Shape 33"/>
          <p:cNvSpPr/>
          <p:nvPr/>
        </p:nvSpPr>
        <p:spPr>
          <a:xfrm>
            <a:off x="4023360" y="576072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6" name="Text 34"/>
          <p:cNvSpPr/>
          <p:nvPr/>
        </p:nvSpPr>
        <p:spPr>
          <a:xfrm>
            <a:off x="4023360" y="5760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572000" y="566013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open-questions.md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0" y="594360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pendientes de decisión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A4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99-archive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 w="15875">
            <a:solidFill>
              <a:srgbClr val="B786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317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B7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PROGRESO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6217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F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SENA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0" y="5486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Archivo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840480" y="141732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deprecados o decisiones antiguas que ya no aplican. No se eliminan: se conservan para trazabilidad histórica.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840480" y="26060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PRINCIPAL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0" y="3017520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4023360" y="318211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4023360" y="3182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14" name="Shape 12"/>
          <p:cNvSpPr/>
          <p:nvPr/>
        </p:nvSpPr>
        <p:spPr>
          <a:xfrm>
            <a:off x="4023360" y="318211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4023360" y="3182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308152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deprecated/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336499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que ya no aplican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0" y="3877056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19" name="Shape 17"/>
          <p:cNvSpPr/>
          <p:nvPr/>
        </p:nvSpPr>
        <p:spPr>
          <a:xfrm>
            <a:off x="4023360" y="404164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21" name="Shape 19"/>
          <p:cNvSpPr/>
          <p:nvPr/>
        </p:nvSpPr>
        <p:spPr>
          <a:xfrm>
            <a:off x="4023360" y="404164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4023360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394106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old-decisions/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0" y="422452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antiguas preservadas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A4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317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6217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F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SENA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0" y="5486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Assets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840480" y="141732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visuales compartidos por todo el proyecto: imágenes, logotipos y diagramas exportados.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840480" y="26060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PRINCIPAL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0" y="3017520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4023360" y="318211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4023360" y="3182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14" name="Shape 12"/>
          <p:cNvSpPr/>
          <p:nvPr/>
        </p:nvSpPr>
        <p:spPr>
          <a:xfrm>
            <a:off x="4023360" y="318211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4023360" y="3182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308152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images/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336499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 e ilustraciones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0" y="3877056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19" name="Shape 17"/>
          <p:cNvSpPr/>
          <p:nvPr/>
        </p:nvSpPr>
        <p:spPr>
          <a:xfrm>
            <a:off x="4023360" y="404164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21" name="Shape 19"/>
          <p:cNvSpPr/>
          <p:nvPr/>
        </p:nvSpPr>
        <p:spPr>
          <a:xfrm>
            <a:off x="4023360" y="404164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4023360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394106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logos/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0" y="422452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visual del proyecto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840480" y="4736592"/>
            <a:ext cx="76809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</p:spPr>
      </p:sp>
      <p:sp>
        <p:nvSpPr>
          <p:cNvPr id="26" name="Shape 24"/>
          <p:cNvSpPr/>
          <p:nvPr/>
        </p:nvSpPr>
        <p:spPr>
          <a:xfrm>
            <a:off x="4023360" y="4901184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Text 25"/>
          <p:cNvSpPr/>
          <p:nvPr/>
        </p:nvSpPr>
        <p:spPr>
          <a:xfrm>
            <a:off x="4023360" y="4901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24" dirty="0"/>
          </a:p>
        </p:txBody>
      </p:sp>
      <p:sp>
        <p:nvSpPr>
          <p:cNvPr id="28" name="Shape 26"/>
          <p:cNvSpPr/>
          <p:nvPr/>
        </p:nvSpPr>
        <p:spPr>
          <a:xfrm>
            <a:off x="4023360" y="4901184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9" name="Text 27"/>
          <p:cNvSpPr/>
          <p:nvPr/>
        </p:nvSpPr>
        <p:spPr>
          <a:xfrm>
            <a:off x="4023360" y="4901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0" y="480060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diagrams/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0" y="508406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exportados para documentación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822960" y="35204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carpetas conforman la documentación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Laboratorio SENA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448056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00-governance a 99-archive — estructura pensada para mantener trazabilidad, consistencia y colaboración entre equipos.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2026-06-30T14:50:14Z</dcterms:created>
  <dcterms:modified xsi:type="dcterms:W3CDTF">2026-06-30T14:50:14Z</dcterms:modified>
</cp:coreProperties>
</file>